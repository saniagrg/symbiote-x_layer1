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1"/>
  </p:sldMasterIdLst>
  <p:notesMasterIdLst>
    <p:notesMasterId r:id="rId39"/>
  </p:notesMasterIdLst>
  <p:handoutMasterIdLst>
    <p:handoutMasterId r:id="rId40"/>
  </p:handoutMasterIdLst>
  <p:sldIdLst>
    <p:sldId id="322" r:id="rId2"/>
    <p:sldId id="256" r:id="rId3"/>
    <p:sldId id="438" r:id="rId4"/>
    <p:sldId id="310" r:id="rId5"/>
    <p:sldId id="439" r:id="rId6"/>
    <p:sldId id="440" r:id="rId7"/>
    <p:sldId id="441" r:id="rId8"/>
    <p:sldId id="442" r:id="rId9"/>
    <p:sldId id="443" r:id="rId10"/>
    <p:sldId id="444" r:id="rId11"/>
    <p:sldId id="445" r:id="rId12"/>
    <p:sldId id="446" r:id="rId13"/>
    <p:sldId id="447" r:id="rId14"/>
    <p:sldId id="448" r:id="rId15"/>
    <p:sldId id="449" r:id="rId16"/>
    <p:sldId id="450" r:id="rId17"/>
    <p:sldId id="451" r:id="rId18"/>
    <p:sldId id="452" r:id="rId19"/>
    <p:sldId id="453" r:id="rId20"/>
    <p:sldId id="459" r:id="rId21"/>
    <p:sldId id="458" r:id="rId22"/>
    <p:sldId id="454" r:id="rId23"/>
    <p:sldId id="455" r:id="rId24"/>
    <p:sldId id="456" r:id="rId25"/>
    <p:sldId id="457" r:id="rId26"/>
    <p:sldId id="460" r:id="rId27"/>
    <p:sldId id="461" r:id="rId28"/>
    <p:sldId id="462" r:id="rId29"/>
    <p:sldId id="463" r:id="rId30"/>
    <p:sldId id="464" r:id="rId31"/>
    <p:sldId id="466" r:id="rId32"/>
    <p:sldId id="467" r:id="rId33"/>
    <p:sldId id="468" r:id="rId34"/>
    <p:sldId id="471" r:id="rId35"/>
    <p:sldId id="472" r:id="rId36"/>
    <p:sldId id="465" r:id="rId37"/>
    <p:sldId id="323" r:id="rId3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8848"/>
    <a:srgbClr val="800000"/>
    <a:srgbClr val="990000"/>
    <a:srgbClr val="FF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76" autoAdjust="0"/>
    <p:restoredTop sz="95226" autoAdjust="0"/>
  </p:normalViewPr>
  <p:slideViewPr>
    <p:cSldViewPr>
      <p:cViewPr varScale="1">
        <p:scale>
          <a:sx n="69" d="100"/>
          <a:sy n="69" d="100"/>
        </p:scale>
        <p:origin x="834" y="60"/>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36" d="100"/>
          <a:sy n="36" d="100"/>
        </p:scale>
        <p:origin x="-28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A159294-520A-460D-93E8-EC612C716D9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r>
              <a:rPr lang="en-US" altLang="en-US"/>
              <a:t>Amity Business School</a:t>
            </a:r>
          </a:p>
        </p:txBody>
      </p:sp>
      <p:sp>
        <p:nvSpPr>
          <p:cNvPr id="5123" name="Rectangle 3">
            <a:extLst>
              <a:ext uri="{FF2B5EF4-FFF2-40B4-BE49-F238E27FC236}">
                <a16:creationId xmlns:a16="http://schemas.microsoft.com/office/drawing/2014/main" id="{F2A057A4-81C0-431B-9B80-F6878B3169C3}"/>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5124" name="Rectangle 4">
            <a:extLst>
              <a:ext uri="{FF2B5EF4-FFF2-40B4-BE49-F238E27FC236}">
                <a16:creationId xmlns:a16="http://schemas.microsoft.com/office/drawing/2014/main" id="{EC5F8D61-89A0-4573-B331-AD454A2907CD}"/>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5125" name="Rectangle 5">
            <a:extLst>
              <a:ext uri="{FF2B5EF4-FFF2-40B4-BE49-F238E27FC236}">
                <a16:creationId xmlns:a16="http://schemas.microsoft.com/office/drawing/2014/main" id="{108932AE-39B7-4ACC-92AC-0CE2A85FB335}"/>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0F9626A-27AC-45E0-A3E5-94FEB7570E8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D8692C44-4F78-4E9B-8324-2F06EE90F54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r>
              <a:rPr lang="en-US" altLang="en-US"/>
              <a:t>Amity Business School</a:t>
            </a:r>
          </a:p>
        </p:txBody>
      </p:sp>
      <p:sp>
        <p:nvSpPr>
          <p:cNvPr id="3075" name="Rectangle 3">
            <a:extLst>
              <a:ext uri="{FF2B5EF4-FFF2-40B4-BE49-F238E27FC236}">
                <a16:creationId xmlns:a16="http://schemas.microsoft.com/office/drawing/2014/main" id="{8F340E76-3341-439B-9B31-45C5286F4C7A}"/>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13316" name="Rectangle 4">
            <a:extLst>
              <a:ext uri="{FF2B5EF4-FFF2-40B4-BE49-F238E27FC236}">
                <a16:creationId xmlns:a16="http://schemas.microsoft.com/office/drawing/2014/main" id="{D3374E36-CE02-46C6-92F7-7452FDDB40E2}"/>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9C8C91A5-96D2-403C-AB33-53765CE465E3}"/>
              </a:ext>
            </a:extLst>
          </p:cNvPr>
          <p:cNvSpPr>
            <a:spLocks noGrp="1" noChangeArrowheads="1"/>
          </p:cNvSpPr>
          <p:nvPr>
            <p:ph type="body" sz="quarter" idx="3"/>
          </p:nvPr>
        </p:nvSpPr>
        <p:spPr bwMode="auto">
          <a:xfrm>
            <a:off x="685800" y="5943600"/>
            <a:ext cx="5486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a:extLst>
              <a:ext uri="{FF2B5EF4-FFF2-40B4-BE49-F238E27FC236}">
                <a16:creationId xmlns:a16="http://schemas.microsoft.com/office/drawing/2014/main" id="{147DD904-B6FC-4478-A8C3-641011D44E2E}"/>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3079" name="Rectangle 7">
            <a:extLst>
              <a:ext uri="{FF2B5EF4-FFF2-40B4-BE49-F238E27FC236}">
                <a16:creationId xmlns:a16="http://schemas.microsoft.com/office/drawing/2014/main" id="{5CFFC1F7-050F-448D-85D1-DC7700C2F100}"/>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51AE8822-BEAC-4CBD-B60C-AFE19D80137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B3889B9-A1DD-4327-938A-5294FF164EEF}"/>
              </a:ext>
            </a:extLst>
          </p:cNvPr>
          <p:cNvSpPr>
            <a:spLocks noGrp="1" noChangeArrowheads="1"/>
          </p:cNvSpPr>
          <p:nvPr>
            <p:ph type="hdr" sz="quarter"/>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Amity Business School</a:t>
            </a:r>
          </a:p>
        </p:txBody>
      </p:sp>
      <p:sp>
        <p:nvSpPr>
          <p:cNvPr id="16387" name="Rectangle 7">
            <a:extLst>
              <a:ext uri="{FF2B5EF4-FFF2-40B4-BE49-F238E27FC236}">
                <a16:creationId xmlns:a16="http://schemas.microsoft.com/office/drawing/2014/main" id="{83F5C1BD-9F13-47BA-A14B-A2628527A7F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0034CE-1983-4225-9487-C0875384D5D2}" type="slidenum">
              <a:rPr lang="en-US" altLang="en-US" smtClean="0"/>
              <a:pPr/>
              <a:t>2</a:t>
            </a:fld>
            <a:endParaRPr lang="en-US" altLang="en-US"/>
          </a:p>
        </p:txBody>
      </p:sp>
      <p:sp>
        <p:nvSpPr>
          <p:cNvPr id="16388" name="Rectangle 2">
            <a:extLst>
              <a:ext uri="{FF2B5EF4-FFF2-40B4-BE49-F238E27FC236}">
                <a16:creationId xmlns:a16="http://schemas.microsoft.com/office/drawing/2014/main" id="{71CF2D6C-9F7F-4636-86D9-FCA7D5061C1D}"/>
              </a:ext>
            </a:extLst>
          </p:cNvPr>
          <p:cNvSpPr>
            <a:spLocks noGrp="1" noRot="1" noChangeAspect="1" noChangeArrowheads="1" noTextEdit="1"/>
          </p:cNvSpPr>
          <p:nvPr>
            <p:ph type="sldImg"/>
          </p:nvPr>
        </p:nvSpPr>
        <p:spPr>
          <a:xfrm>
            <a:off x="381000" y="685800"/>
            <a:ext cx="6096000" cy="3429000"/>
          </a:xfrm>
          <a:ln/>
        </p:spPr>
      </p:sp>
      <p:sp>
        <p:nvSpPr>
          <p:cNvPr id="16389" name="Rectangle 3">
            <a:extLst>
              <a:ext uri="{FF2B5EF4-FFF2-40B4-BE49-F238E27FC236}">
                <a16:creationId xmlns:a16="http://schemas.microsoft.com/office/drawing/2014/main" id="{EE3A07E7-DC14-4C71-9519-769B07AFF69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8C286A77-2504-4226-829F-E11BC46CAC36}" type="slidenum">
              <a:rPr lang="en-US" altLang="en-US" smtClean="0"/>
              <a:pPr>
                <a:defRPr/>
              </a:pPr>
              <a:t>‹#›</a:t>
            </a:fld>
            <a:endParaRPr lang="en-US" altLang="en-US" dirty="0"/>
          </a:p>
        </p:txBody>
      </p:sp>
    </p:spTree>
    <p:extLst>
      <p:ext uri="{BB962C8B-B14F-4D97-AF65-F5344CB8AC3E}">
        <p14:creationId xmlns:p14="http://schemas.microsoft.com/office/powerpoint/2010/main" val="4199116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0314B9FC-F7FA-4A5F-A68B-9084E75933A3}" type="slidenum">
              <a:rPr lang="en-US" altLang="en-US" smtClean="0"/>
              <a:pPr>
                <a:defRPr/>
              </a:pPr>
              <a:t>‹#›</a:t>
            </a:fld>
            <a:endParaRPr lang="en-US" altLang="en-US" dirty="0"/>
          </a:p>
        </p:txBody>
      </p:sp>
      <p:sp>
        <p:nvSpPr>
          <p:cNvPr id="7" name="TextBox 6"/>
          <p:cNvSpPr txBox="1"/>
          <p:nvPr userDrawn="1"/>
        </p:nvSpPr>
        <p:spPr>
          <a:xfrm>
            <a:off x="6934200" y="533400"/>
            <a:ext cx="4876800" cy="369332"/>
          </a:xfrm>
          <a:prstGeom prst="rect">
            <a:avLst/>
          </a:prstGeom>
          <a:noFill/>
        </p:spPr>
        <p:txBody>
          <a:bodyPr wrap="square" rtlCol="0">
            <a:spAutoFit/>
          </a:bodyPr>
          <a:lstStyle/>
          <a:p>
            <a:r>
              <a:rPr lang="en-IN" kern="1200" dirty="0" smtClean="0">
                <a:solidFill>
                  <a:schemeClr val="accent5">
                    <a:lumMod val="75000"/>
                  </a:schemeClr>
                </a:solidFill>
                <a:latin typeface="Arial" panose="020B0604020202020204" pitchFamily="34" charset="0"/>
                <a:ea typeface="+mn-ea"/>
                <a:cs typeface="+mn-cs"/>
              </a:rPr>
              <a:t>Amity School of Engineering and </a:t>
            </a:r>
            <a:r>
              <a:rPr lang="en-IN" dirty="0" smtClean="0">
                <a:solidFill>
                  <a:schemeClr val="accent5">
                    <a:lumMod val="75000"/>
                  </a:schemeClr>
                </a:solidFill>
              </a:rPr>
              <a:t>Technology</a:t>
            </a:r>
            <a:endParaRPr lang="en-IN" dirty="0">
              <a:solidFill>
                <a:schemeClr val="accent5">
                  <a:lumMod val="75000"/>
                </a:schemeClr>
              </a:solidFill>
            </a:endParaRPr>
          </a:p>
        </p:txBody>
      </p:sp>
    </p:spTree>
    <p:extLst>
      <p:ext uri="{BB962C8B-B14F-4D97-AF65-F5344CB8AC3E}">
        <p14:creationId xmlns:p14="http://schemas.microsoft.com/office/powerpoint/2010/main" val="1762086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167BBFC6-8509-4D29-8497-A599BFB10EFE}" type="slidenum">
              <a:rPr lang="en-US" altLang="en-US" smtClean="0"/>
              <a:pPr>
                <a:defRPr/>
              </a:pPr>
              <a:t>‹#›</a:t>
            </a:fld>
            <a:endParaRPr lang="en-US" altLang="en-US" dirty="0"/>
          </a:p>
        </p:txBody>
      </p:sp>
      <p:sp>
        <p:nvSpPr>
          <p:cNvPr id="7" name="TextBox 6"/>
          <p:cNvSpPr txBox="1"/>
          <p:nvPr userDrawn="1"/>
        </p:nvSpPr>
        <p:spPr>
          <a:xfrm>
            <a:off x="7010400" y="628135"/>
            <a:ext cx="4718050" cy="369332"/>
          </a:xfrm>
          <a:prstGeom prst="rect">
            <a:avLst/>
          </a:prstGeom>
          <a:noFill/>
        </p:spPr>
        <p:txBody>
          <a:bodyPr wrap="square" rtlCol="0">
            <a:spAutoFit/>
          </a:bodyPr>
          <a:lstStyle/>
          <a:p>
            <a:r>
              <a:rPr lang="en-IN" dirty="0" smtClean="0">
                <a:solidFill>
                  <a:schemeClr val="accent5">
                    <a:lumMod val="75000"/>
                  </a:schemeClr>
                </a:solidFill>
              </a:rPr>
              <a:t>Amity School of Engineering and Technology</a:t>
            </a:r>
            <a:endParaRPr lang="en-IN" dirty="0">
              <a:solidFill>
                <a:schemeClr val="accent5">
                  <a:lumMod val="75000"/>
                </a:schemeClr>
              </a:solidFill>
            </a:endParaRPr>
          </a:p>
        </p:txBody>
      </p:sp>
    </p:spTree>
    <p:extLst>
      <p:ext uri="{BB962C8B-B14F-4D97-AF65-F5344CB8AC3E}">
        <p14:creationId xmlns:p14="http://schemas.microsoft.com/office/powerpoint/2010/main" val="481278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7328A42B-9FA6-4543-AF9C-380CA704903F}" type="slidenum">
              <a:rPr lang="en-US" altLang="en-US" smtClean="0"/>
              <a:pPr>
                <a:defRPr/>
              </a:pPr>
              <a:t>‹#›</a:t>
            </a:fld>
            <a:endParaRPr lang="en-US" altLang="en-US"/>
          </a:p>
        </p:txBody>
      </p:sp>
    </p:spTree>
    <p:extLst>
      <p:ext uri="{BB962C8B-B14F-4D97-AF65-F5344CB8AC3E}">
        <p14:creationId xmlns:p14="http://schemas.microsoft.com/office/powerpoint/2010/main" val="3752187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defRPr/>
            </a:pPr>
            <a:fld id="{DBC34058-33B8-4ECC-AC0D-5767CD50B0C6}" type="slidenum">
              <a:rPr lang="en-US" altLang="en-US" smtClean="0"/>
              <a:pPr>
                <a:defRPr/>
              </a:pPr>
              <a:t>‹#›</a:t>
            </a:fld>
            <a:endParaRPr lang="en-US" altLang="en-US"/>
          </a:p>
        </p:txBody>
      </p:sp>
    </p:spTree>
    <p:extLst>
      <p:ext uri="{BB962C8B-B14F-4D97-AF65-F5344CB8AC3E}">
        <p14:creationId xmlns:p14="http://schemas.microsoft.com/office/powerpoint/2010/main" val="1312613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07D05B2F-A227-4A5D-B773-CDA53A209A4F}" type="slidenum">
              <a:rPr lang="en-US" altLang="en-US" smtClean="0"/>
              <a:pPr>
                <a:defRPr/>
              </a:pPr>
              <a:t>‹#›</a:t>
            </a:fld>
            <a:endParaRPr lang="en-US" altLang="en-US"/>
          </a:p>
        </p:txBody>
      </p:sp>
    </p:spTree>
    <p:extLst>
      <p:ext uri="{BB962C8B-B14F-4D97-AF65-F5344CB8AC3E}">
        <p14:creationId xmlns:p14="http://schemas.microsoft.com/office/powerpoint/2010/main" val="889555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6F37B527-40FE-43B6-AD95-333021185313}" type="slidenum">
              <a:rPr lang="en-US" altLang="en-US" smtClean="0"/>
              <a:pPr>
                <a:defRPr/>
              </a:pPr>
              <a:t>‹#›</a:t>
            </a:fld>
            <a:endParaRPr lang="en-US" altLang="en-US"/>
          </a:p>
        </p:txBody>
      </p:sp>
      <p:sp>
        <p:nvSpPr>
          <p:cNvPr id="5" name="TextBox 4"/>
          <p:cNvSpPr txBox="1"/>
          <p:nvPr userDrawn="1"/>
        </p:nvSpPr>
        <p:spPr>
          <a:xfrm>
            <a:off x="7010400" y="533400"/>
            <a:ext cx="4724400" cy="369332"/>
          </a:xfrm>
          <a:prstGeom prst="rect">
            <a:avLst/>
          </a:prstGeom>
          <a:noFill/>
        </p:spPr>
        <p:txBody>
          <a:bodyPr wrap="square" rtlCol="0">
            <a:spAutoFit/>
          </a:bodyPr>
          <a:lstStyle/>
          <a:p>
            <a:r>
              <a:rPr lang="en-IN" dirty="0" smtClean="0">
                <a:solidFill>
                  <a:schemeClr val="accent5">
                    <a:lumMod val="75000"/>
                  </a:schemeClr>
                </a:solidFill>
              </a:rPr>
              <a:t>Amity School of Engineering and Technology</a:t>
            </a:r>
            <a:endParaRPr lang="en-IN" dirty="0">
              <a:solidFill>
                <a:schemeClr val="accent5">
                  <a:lumMod val="75000"/>
                </a:schemeClr>
              </a:solidFill>
            </a:endParaRPr>
          </a:p>
        </p:txBody>
      </p:sp>
    </p:spTree>
    <p:extLst>
      <p:ext uri="{BB962C8B-B14F-4D97-AF65-F5344CB8AC3E}">
        <p14:creationId xmlns:p14="http://schemas.microsoft.com/office/powerpoint/2010/main" val="1470823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2F9A3A2A-523B-4C34-9AAD-376B93DF8EB9}" type="slidenum">
              <a:rPr lang="en-US" altLang="en-US" smtClean="0"/>
              <a:pPr>
                <a:defRPr/>
              </a:pPr>
              <a:t>‹#›</a:t>
            </a:fld>
            <a:endParaRPr lang="en-US" altLang="en-US"/>
          </a:p>
        </p:txBody>
      </p:sp>
    </p:spTree>
    <p:extLst>
      <p:ext uri="{BB962C8B-B14F-4D97-AF65-F5344CB8AC3E}">
        <p14:creationId xmlns:p14="http://schemas.microsoft.com/office/powerpoint/2010/main" val="204483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A342EDE0-F372-4963-9F90-0441B914DE03}" type="slidenum">
              <a:rPr lang="en-US" altLang="en-US" smtClean="0"/>
              <a:pPr>
                <a:defRPr/>
              </a:pPr>
              <a:t>‹#›</a:t>
            </a:fld>
            <a:endParaRPr lang="en-US" altLang="en-US"/>
          </a:p>
        </p:txBody>
      </p:sp>
    </p:spTree>
    <p:extLst>
      <p:ext uri="{BB962C8B-B14F-4D97-AF65-F5344CB8AC3E}">
        <p14:creationId xmlns:p14="http://schemas.microsoft.com/office/powerpoint/2010/main" val="4099208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A94F5685-63D6-4B99-B889-F52513181201}" type="slidenum">
              <a:rPr lang="en-US" altLang="en-US" smtClean="0"/>
              <a:pPr>
                <a:defRPr/>
              </a:pPr>
              <a:t>‹#›</a:t>
            </a:fld>
            <a:endParaRPr lang="en-US" altLang="en-US"/>
          </a:p>
        </p:txBody>
      </p:sp>
    </p:spTree>
    <p:extLst>
      <p:ext uri="{BB962C8B-B14F-4D97-AF65-F5344CB8AC3E}">
        <p14:creationId xmlns:p14="http://schemas.microsoft.com/office/powerpoint/2010/main" val="426100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8A37B745-9700-4BA7-A6C3-695E2C28525C}" type="slidenum">
              <a:rPr lang="en-US" altLang="en-US" smtClean="0"/>
              <a:pPr>
                <a:defRPr/>
              </a:pPr>
              <a:t>‹#›</a:t>
            </a:fld>
            <a:endParaRPr lang="en-US" altLang="en-US"/>
          </a:p>
        </p:txBody>
      </p:sp>
    </p:spTree>
    <p:extLst>
      <p:ext uri="{BB962C8B-B14F-4D97-AF65-F5344CB8AC3E}">
        <p14:creationId xmlns:p14="http://schemas.microsoft.com/office/powerpoint/2010/main" val="2109514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1/12/2021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r>
              <a:rPr lang="en-US" altLang="en-US" smtClean="0"/>
              <a:t>AKJ</a:t>
            </a:r>
            <a:endParaRPr lang="en-US" altLang="en-US"/>
          </a:p>
        </p:txBody>
      </p:sp>
      <p:pic>
        <p:nvPicPr>
          <p:cNvPr id="7" name="Picture 7" descr="8">
            <a:extLst>
              <a:ext uri="{FF2B5EF4-FFF2-40B4-BE49-F238E27FC236}">
                <a16:creationId xmlns:a16="http://schemas.microsoft.com/office/drawing/2014/main" id="{B5C205A5-2743-4AA7-8B40-EF5881452B6C}"/>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b="83365"/>
          <a:stretch>
            <a:fillRect/>
          </a:stretch>
        </p:blipFill>
        <p:spPr bwMode="auto">
          <a:xfrm>
            <a:off x="4234" y="3176"/>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0">
            <a:extLst>
              <a:ext uri="{FF2B5EF4-FFF2-40B4-BE49-F238E27FC236}">
                <a16:creationId xmlns:a16="http://schemas.microsoft.com/office/drawing/2014/main" id="{BC43B3D7-3993-4626-9F89-DDAE54C2D68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IN" altLang="en-US"/>
          </a:p>
        </p:txBody>
      </p:sp>
    </p:spTree>
    <p:extLst>
      <p:ext uri="{BB962C8B-B14F-4D97-AF65-F5344CB8AC3E}">
        <p14:creationId xmlns:p14="http://schemas.microsoft.com/office/powerpoint/2010/main" val="3955629672"/>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dailydesignidea.wordpress.com/2012/02/16/your-next-thank-you-note/" TargetMode="External"/><Relationship Id="rId2" Type="http://schemas.openxmlformats.org/officeDocument/2006/relationships/image" Target="../media/image2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D3BB94-84BD-4A90-BE69-CC3B9F7CCAC9}"/>
              </a:ext>
            </a:extLst>
          </p:cNvPr>
          <p:cNvSpPr>
            <a:spLocks noGrp="1"/>
          </p:cNvSpPr>
          <p:nvPr>
            <p:ph type="sldNum" sz="quarter" idx="12"/>
          </p:nvPr>
        </p:nvSpPr>
        <p:spPr/>
        <p:txBody>
          <a:bodyPr/>
          <a:lstStyle/>
          <a:p>
            <a:pPr>
              <a:defRPr/>
            </a:pPr>
            <a:fld id="{6F37B527-40FE-43B6-AD95-333021185313}" type="slidenum">
              <a:rPr lang="en-US" altLang="en-US" smtClean="0"/>
              <a:pPr>
                <a:defRPr/>
              </a:pPr>
              <a:t>1</a:t>
            </a:fld>
            <a:endParaRPr lang="en-US" altLang="en-US"/>
          </a:p>
        </p:txBody>
      </p:sp>
      <p:sp>
        <p:nvSpPr>
          <p:cNvPr id="3" name="Rectangle 2">
            <a:extLst>
              <a:ext uri="{FF2B5EF4-FFF2-40B4-BE49-F238E27FC236}">
                <a16:creationId xmlns:a16="http://schemas.microsoft.com/office/drawing/2014/main" id="{4FBEAFCB-0A7F-468F-A3A3-428D8B244CF6}"/>
              </a:ext>
            </a:extLst>
          </p:cNvPr>
          <p:cNvSpPr/>
          <p:nvPr/>
        </p:nvSpPr>
        <p:spPr>
          <a:xfrm>
            <a:off x="2381686" y="1219200"/>
            <a:ext cx="7428637" cy="830997"/>
          </a:xfrm>
          <a:prstGeom prst="rect">
            <a:avLst/>
          </a:prstGeom>
          <a:noFill/>
        </p:spPr>
        <p:txBody>
          <a:bodyPr wrap="none" lIns="91440" tIns="45720" rIns="91440" bIns="45720">
            <a:spAutoFit/>
          </a:bodyPr>
          <a:lstStyle/>
          <a:p>
            <a:pPr algn="ctr"/>
            <a:r>
              <a:rPr lang="en-US" sz="4800"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anose="04020705040A02060702" pitchFamily="82" charset="0"/>
              </a:rPr>
              <a:t>COMPILER CONSTRUCTION</a:t>
            </a:r>
            <a:endParaRPr lang="en-US" sz="480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anose="04020705040A02060702" pitchFamily="82" charset="0"/>
            </a:endParaRPr>
          </a:p>
        </p:txBody>
      </p:sp>
      <p:sp>
        <p:nvSpPr>
          <p:cNvPr id="4" name="Rectangle 3">
            <a:extLst>
              <a:ext uri="{FF2B5EF4-FFF2-40B4-BE49-F238E27FC236}">
                <a16:creationId xmlns:a16="http://schemas.microsoft.com/office/drawing/2014/main" id="{2E55A75F-613D-473C-B5F6-70981BC97F04}"/>
              </a:ext>
            </a:extLst>
          </p:cNvPr>
          <p:cNvSpPr/>
          <p:nvPr/>
        </p:nvSpPr>
        <p:spPr>
          <a:xfrm>
            <a:off x="609600" y="2307372"/>
            <a:ext cx="10515600" cy="4093428"/>
          </a:xfrm>
          <a:prstGeom prst="rect">
            <a:avLst/>
          </a:prstGeom>
          <a:noFill/>
        </p:spPr>
        <p:txBody>
          <a:bodyPr wrap="square" lIns="91440" tIns="45720" rIns="91440" bIns="45720">
            <a:spAutoFit/>
          </a:bodyPr>
          <a:lstStyle/>
          <a:p>
            <a:pPr algn="ctr"/>
            <a:r>
              <a:rPr lang="en-US" sz="4800" dirty="0">
                <a:ln w="0"/>
                <a:effectLst>
                  <a:outerShdw blurRad="38100" dist="19050" dir="2700000" algn="tl" rotWithShape="0">
                    <a:schemeClr val="dk1">
                      <a:alpha val="40000"/>
                    </a:schemeClr>
                  </a:outerShdw>
                </a:effectLst>
                <a:latin typeface="Arial Black" panose="020B0A04020102020204" pitchFamily="34" charset="0"/>
              </a:rPr>
              <a:t>Module </a:t>
            </a:r>
            <a:r>
              <a:rPr lang="en-US" sz="4800" dirty="0" smtClean="0">
                <a:ln w="0"/>
                <a:effectLst>
                  <a:outerShdw blurRad="38100" dist="19050" dir="2700000" algn="tl" rotWithShape="0">
                    <a:schemeClr val="dk1">
                      <a:alpha val="40000"/>
                    </a:schemeClr>
                  </a:outerShdw>
                </a:effectLst>
                <a:latin typeface="Arial Black" panose="020B0A04020102020204" pitchFamily="34" charset="0"/>
              </a:rPr>
              <a:t>I</a:t>
            </a:r>
          </a:p>
          <a:p>
            <a:pPr algn="ctr"/>
            <a:r>
              <a:rPr lang="en-US" sz="4800" dirty="0" smtClean="0">
                <a:ln w="0"/>
                <a:effectLst>
                  <a:outerShdw blurRad="38100" dist="19050" dir="2700000" algn="tl" rotWithShape="0">
                    <a:schemeClr val="dk1">
                      <a:alpha val="40000"/>
                    </a:schemeClr>
                  </a:outerShdw>
                </a:effectLst>
                <a:latin typeface="Arial Black" panose="020B0A04020102020204" pitchFamily="34" charset="0"/>
              </a:rPr>
              <a:t>Lecture-1</a:t>
            </a:r>
            <a:endParaRPr lang="en-US" sz="4800" dirty="0">
              <a:ln w="0"/>
              <a:effectLst>
                <a:outerShdw blurRad="38100" dist="19050" dir="2700000" algn="tl" rotWithShape="0">
                  <a:schemeClr val="dk1">
                    <a:alpha val="40000"/>
                  </a:schemeClr>
                </a:outerShdw>
              </a:effectLst>
              <a:latin typeface="Arial Black" panose="020B0A04020102020204" pitchFamily="34" charset="0"/>
            </a:endParaRPr>
          </a:p>
          <a:p>
            <a:pPr algn="ctr"/>
            <a:r>
              <a:rPr lang="en-US" sz="4400" dirty="0" smtClean="0">
                <a:ln w="0"/>
                <a:solidFill>
                  <a:schemeClr val="accent5">
                    <a:lumMod val="75000"/>
                  </a:schemeClr>
                </a:solidFill>
                <a:effectLst>
                  <a:outerShdw blurRad="38100" dist="19050" dir="2700000" algn="tl" rotWithShape="0">
                    <a:schemeClr val="dk1">
                      <a:alpha val="40000"/>
                    </a:schemeClr>
                  </a:outerShdw>
                </a:effectLst>
                <a:latin typeface="Arial Black" panose="020B0A04020102020204" pitchFamily="34" charset="0"/>
              </a:rPr>
              <a:t>Introduction to Compilers</a:t>
            </a:r>
            <a:endParaRPr lang="en-US" sz="4400" dirty="0">
              <a:ln w="0"/>
              <a:solidFill>
                <a:schemeClr val="accent5">
                  <a:lumMod val="75000"/>
                </a:schemeClr>
              </a:solidFill>
              <a:effectLst>
                <a:outerShdw blurRad="38100" dist="19050" dir="2700000" algn="tl" rotWithShape="0">
                  <a:schemeClr val="dk1">
                    <a:alpha val="40000"/>
                  </a:schemeClr>
                </a:outerShdw>
              </a:effectLst>
              <a:latin typeface="Arial Black" panose="020B0A04020102020204" pitchFamily="34" charset="0"/>
            </a:endParaRPr>
          </a:p>
          <a:p>
            <a:pPr algn="r"/>
            <a:endParaRPr lang="en-US" sz="4000" dirty="0" smtClean="0">
              <a:ln w="0"/>
              <a:effectLst>
                <a:outerShdw blurRad="38100" dist="19050" dir="2700000" algn="tl" rotWithShape="0">
                  <a:schemeClr val="dk1">
                    <a:alpha val="40000"/>
                  </a:schemeClr>
                </a:outerShdw>
              </a:effectLst>
              <a:latin typeface="Arial Black" panose="020B0A04020102020204" pitchFamily="34" charset="0"/>
            </a:endParaRPr>
          </a:p>
          <a:p>
            <a:pPr algn="r"/>
            <a:r>
              <a:rPr lang="en-US" sz="4000" dirty="0" smtClean="0">
                <a:ln w="0"/>
                <a:effectLst>
                  <a:outerShdw blurRad="38100" dist="19050" dir="2700000" algn="tl" rotWithShape="0">
                    <a:schemeClr val="dk1">
                      <a:alpha val="40000"/>
                    </a:schemeClr>
                  </a:outerShdw>
                </a:effectLst>
                <a:latin typeface="Arial Black" panose="020B0A04020102020204" pitchFamily="34" charset="0"/>
              </a:rPr>
              <a:t>Neetu Narayan</a:t>
            </a:r>
          </a:p>
          <a:p>
            <a:pPr algn="r"/>
            <a:r>
              <a:rPr lang="en-US" sz="4000" dirty="0" smtClean="0">
                <a:ln w="0"/>
                <a:effectLst>
                  <a:outerShdw blurRad="38100" dist="19050" dir="2700000" algn="tl" rotWithShape="0">
                    <a:schemeClr val="dk1">
                      <a:alpha val="40000"/>
                    </a:schemeClr>
                  </a:outerShdw>
                </a:effectLst>
                <a:latin typeface="Arial Black" panose="020B0A04020102020204" pitchFamily="34" charset="0"/>
              </a:rPr>
              <a:t>ASET(CSE</a:t>
            </a:r>
            <a:r>
              <a:rPr lang="en-US" sz="4000" dirty="0">
                <a:ln w="0"/>
                <a:effectLst>
                  <a:outerShdw blurRad="38100" dist="19050" dir="2700000" algn="tl" rotWithShape="0">
                    <a:schemeClr val="dk1">
                      <a:alpha val="40000"/>
                    </a:schemeClr>
                  </a:outerShdw>
                </a:effectLst>
                <a:latin typeface="Arial Black" panose="020B0A04020102020204" pitchFamily="34" charset="0"/>
              </a:rPr>
              <a:t>)</a:t>
            </a:r>
          </a:p>
        </p:txBody>
      </p:sp>
    </p:spTree>
    <p:custDataLst>
      <p:tags r:id="rId1"/>
    </p:custDataLst>
    <p:extLst>
      <p:ext uri="{BB962C8B-B14F-4D97-AF65-F5344CB8AC3E}">
        <p14:creationId xmlns:p14="http://schemas.microsoft.com/office/powerpoint/2010/main" val="3045401800"/>
      </p:ext>
    </p:extLst>
  </p:cSld>
  <p:clrMapOvr>
    <a:masterClrMapping/>
  </p:clrMapOvr>
  <mc:AlternateContent xmlns:mc="http://schemas.openxmlformats.org/markup-compatibility/2006" xmlns:p14="http://schemas.microsoft.com/office/powerpoint/2010/main">
    <mc:Choice Requires="p14">
      <p:transition spd="slow" p14:dur="2000" advTm="11079"/>
    </mc:Choice>
    <mc:Fallback xmlns="">
      <p:transition spd="slow" advTm="1107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a:extLst>
              <a:ext uri="{FF2B5EF4-FFF2-40B4-BE49-F238E27FC236}">
                <a16:creationId xmlns:a16="http://schemas.microsoft.com/office/drawing/2014/main" id="{81599672-6DB5-4838-8A90-32DB9FCF57BE}"/>
              </a:ext>
            </a:extLst>
          </p:cNvPr>
          <p:cNvSpPr>
            <a:spLocks noGrp="1" noChangeArrowheads="1"/>
          </p:cNvSpPr>
          <p:nvPr>
            <p:ph type="ctrTitle"/>
          </p:nvPr>
        </p:nvSpPr>
        <p:spPr bwMode="auto">
          <a:xfrm>
            <a:off x="2209800" y="2130426"/>
            <a:ext cx="7772400" cy="12985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pPr eaLnBrk="1" hangingPunct="1">
              <a:defRPr/>
            </a:pPr>
            <a:r>
              <a:rPr lang="en-IN" dirty="0"/>
              <a:t> </a:t>
            </a:r>
            <a:r>
              <a:rPr lang="en-US" altLang="en-US" sz="3600" dirty="0">
                <a:solidFill>
                  <a:schemeClr val="accent6"/>
                </a:solidFill>
                <a:latin typeface="Times New Roman" panose="02020603050405020304" pitchFamily="18" charset="0"/>
              </a:rPr>
              <a:t/>
            </a:r>
            <a:br>
              <a:rPr lang="en-US" altLang="en-US" sz="3600" dirty="0">
                <a:solidFill>
                  <a:schemeClr val="accent6"/>
                </a:solidFill>
                <a:latin typeface="Times New Roman" panose="02020603050405020304" pitchFamily="18" charset="0"/>
              </a:rPr>
            </a:br>
            <a:endParaRPr lang="en-US" altLang="en-US" sz="3600" dirty="0">
              <a:solidFill>
                <a:srgbClr val="800000"/>
              </a:solidFill>
              <a:latin typeface="Times New Roman" panose="02020603050405020304" pitchFamily="18" charset="0"/>
            </a:endParaRPr>
          </a:p>
        </p:txBody>
      </p:sp>
      <p:sp>
        <p:nvSpPr>
          <p:cNvPr id="15362" name="Slide Number Placeholder 3">
            <a:extLst>
              <a:ext uri="{FF2B5EF4-FFF2-40B4-BE49-F238E27FC236}">
                <a16:creationId xmlns:a16="http://schemas.microsoft.com/office/drawing/2014/main" id="{9FFA6EF1-DC15-4EC3-909E-8CF6C7C3DCE6}"/>
              </a:ext>
            </a:extLst>
          </p:cNvPr>
          <p:cNvSpPr>
            <a:spLocks noGrp="1"/>
          </p:cNvSpPr>
          <p:nvPr>
            <p:ph type="sldNum" sz="quarter" idx="12"/>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A139F51-BF43-4600-9B73-C627EB15177A}" type="slidenum">
              <a:rPr lang="en-US" altLang="en-US" smtClean="0"/>
              <a:pPr/>
              <a:t>2</a:t>
            </a:fld>
            <a:endParaRPr lang="en-US" altLang="en-US"/>
          </a:p>
        </p:txBody>
      </p:sp>
      <p:sp>
        <p:nvSpPr>
          <p:cNvPr id="2" name="Rectangle: Rounded Corners 1">
            <a:extLst>
              <a:ext uri="{FF2B5EF4-FFF2-40B4-BE49-F238E27FC236}">
                <a16:creationId xmlns:a16="http://schemas.microsoft.com/office/drawing/2014/main" id="{24333B55-214F-4676-9C3F-615D5DADD671}"/>
              </a:ext>
            </a:extLst>
          </p:cNvPr>
          <p:cNvSpPr/>
          <p:nvPr/>
        </p:nvSpPr>
        <p:spPr>
          <a:xfrm>
            <a:off x="1295400" y="1082675"/>
            <a:ext cx="10058400" cy="5638800"/>
          </a:xfrm>
          <a:prstGeom prst="roundRect">
            <a:avLst/>
          </a:prstGeom>
          <a:solidFill>
            <a:srgbClr val="002060"/>
          </a:solidFill>
        </p:spPr>
        <p:style>
          <a:lnRef idx="1">
            <a:schemeClr val="accent4"/>
          </a:lnRef>
          <a:fillRef idx="3">
            <a:schemeClr val="accent4"/>
          </a:fillRef>
          <a:effectRef idx="2">
            <a:schemeClr val="accent4"/>
          </a:effectRef>
          <a:fontRef idx="minor">
            <a:schemeClr val="lt1"/>
          </a:fontRef>
        </p:style>
        <p:txBody>
          <a:bodyPr rtlCol="0" anchor="ctr"/>
          <a:lstStyle/>
          <a:p>
            <a:r>
              <a:rPr lang="en-US" sz="3200" dirty="0">
                <a:solidFill>
                  <a:srgbClr val="C00000"/>
                </a:solidFill>
                <a:latin typeface="Baskerville Old Face" panose="02020602080505020303" pitchFamily="18" charset="0"/>
              </a:rPr>
              <a:t>Module </a:t>
            </a:r>
            <a:r>
              <a:rPr lang="en-US" sz="3200" dirty="0" smtClean="0">
                <a:solidFill>
                  <a:srgbClr val="C00000"/>
                </a:solidFill>
                <a:latin typeface="Baskerville Old Face" panose="02020602080505020303" pitchFamily="18" charset="0"/>
              </a:rPr>
              <a:t>I:</a:t>
            </a:r>
            <a:endParaRPr lang="en-US" sz="3200" dirty="0">
              <a:solidFill>
                <a:srgbClr val="C00000"/>
              </a:solidFill>
              <a:latin typeface="Baskerville Old Face" panose="02020602080505020303" pitchFamily="18" charset="0"/>
            </a:endParaRPr>
          </a:p>
          <a:p>
            <a:pPr marL="571500" indent="-571500">
              <a:buFont typeface="Wingdings" panose="05000000000000000000" pitchFamily="2" charset="2"/>
              <a:buChar char="q"/>
            </a:pPr>
            <a:r>
              <a:rPr lang="en-US" altLang="en-US" sz="3200" dirty="0" smtClean="0"/>
              <a:t>Introduction </a:t>
            </a:r>
            <a:r>
              <a:rPr lang="en-US" altLang="en-US" sz="3200" dirty="0"/>
              <a:t>of Compiler</a:t>
            </a:r>
          </a:p>
          <a:p>
            <a:pPr marL="571500" indent="-571500">
              <a:buFont typeface="Wingdings" panose="05000000000000000000" pitchFamily="2" charset="2"/>
              <a:buChar char="q"/>
            </a:pPr>
            <a:r>
              <a:rPr lang="en-US" sz="3200" dirty="0" smtClean="0"/>
              <a:t>Cousins of the Compiler</a:t>
            </a:r>
          </a:p>
          <a:p>
            <a:pPr marL="571500" indent="-571500">
              <a:buFont typeface="Wingdings" panose="05000000000000000000" pitchFamily="2" charset="2"/>
              <a:buChar char="q"/>
            </a:pPr>
            <a:r>
              <a:rPr lang="en-US" altLang="en-US" sz="3200" dirty="0" smtClean="0"/>
              <a:t>Phases </a:t>
            </a:r>
            <a:r>
              <a:rPr lang="en-US" altLang="en-US" sz="3200" dirty="0"/>
              <a:t>of a Compiler</a:t>
            </a:r>
          </a:p>
          <a:p>
            <a:pPr marL="571500" indent="-571500">
              <a:buFont typeface="Wingdings" panose="05000000000000000000" pitchFamily="2" charset="2"/>
              <a:buChar char="q"/>
            </a:pPr>
            <a:r>
              <a:rPr lang="en-US" sz="3200" dirty="0" smtClean="0"/>
              <a:t>Grouping of Phases</a:t>
            </a:r>
          </a:p>
          <a:p>
            <a:endParaRPr lang="en-US" sz="3200" dirty="0" smtClean="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0608"/>
    </mc:Choice>
    <mc:Fallback xmlns="">
      <p:transition spd="slow" advTm="20608"/>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33488"/>
          </a:xfrm>
        </p:spPr>
        <p:txBody>
          <a:bodyPr>
            <a:normAutofit fontScale="90000"/>
          </a:bodyPr>
          <a:lstStyle/>
          <a:p>
            <a:pPr algn="ctr"/>
            <a:r>
              <a:rPr lang="en-IN" dirty="0" smtClean="0"/>
              <a:t/>
            </a:r>
            <a:br>
              <a:rPr lang="en-IN" dirty="0" smtClean="0"/>
            </a:br>
            <a:r>
              <a:rPr lang="en-US" b="1" dirty="0"/>
              <a:t>Recommended Reading</a:t>
            </a:r>
            <a:r>
              <a:rPr lang="en-US" dirty="0"/>
              <a:t>​</a:t>
            </a:r>
            <a:endParaRPr lang="en-IN" sz="36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a:t>
            </a:fld>
            <a:endParaRPr lang="en-US" altLang="en-US" dirty="0"/>
          </a:p>
        </p:txBody>
      </p:sp>
      <p:sp>
        <p:nvSpPr>
          <p:cNvPr id="6" name="Rectangle 5"/>
          <p:cNvSpPr/>
          <p:nvPr/>
        </p:nvSpPr>
        <p:spPr>
          <a:xfrm>
            <a:off x="228600" y="1523999"/>
            <a:ext cx="11734800" cy="51974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sz="2800" b="1" dirty="0">
                <a:latin typeface="Cambria" panose="02040503050406030204" pitchFamily="18" charset="0"/>
                <a:ea typeface="Cambria" panose="02040503050406030204" pitchFamily="18" charset="0"/>
              </a:rPr>
              <a:t>Textbooks: </a:t>
            </a:r>
            <a:r>
              <a:rPr lang="en-US" sz="2800" dirty="0">
                <a:latin typeface="Cambria" panose="02040503050406030204" pitchFamily="18" charset="0"/>
                <a:ea typeface="Cambria" panose="02040503050406030204" pitchFamily="18" charset="0"/>
              </a:rPr>
              <a: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Alfred V. </a:t>
            </a:r>
            <a:r>
              <a:rPr lang="en-US" sz="2400" dirty="0" err="1">
                <a:latin typeface="Cambria" panose="02040503050406030204" pitchFamily="18" charset="0"/>
                <a:ea typeface="Cambria" panose="02040503050406030204" pitchFamily="18" charset="0"/>
              </a:rPr>
              <a:t>Aho</a:t>
            </a:r>
            <a:r>
              <a:rPr lang="en-US" sz="2400" dirty="0">
                <a:latin typeface="Cambria" panose="02040503050406030204" pitchFamily="18" charset="0"/>
                <a:ea typeface="Cambria" panose="02040503050406030204" pitchFamily="18" charset="0"/>
              </a:rPr>
              <a:t>, Monica S. Lam, Ravi </a:t>
            </a:r>
            <a:r>
              <a:rPr lang="en-US" sz="2400" dirty="0" err="1">
                <a:latin typeface="Cambria" panose="02040503050406030204" pitchFamily="18" charset="0"/>
                <a:ea typeface="Cambria" panose="02040503050406030204" pitchFamily="18" charset="0"/>
              </a:rPr>
              <a:t>Sethi</a:t>
            </a:r>
            <a:r>
              <a:rPr lang="en-US" sz="2400" dirty="0">
                <a:latin typeface="Cambria" panose="02040503050406030204" pitchFamily="18" charset="0"/>
                <a:ea typeface="Cambria" panose="02040503050406030204" pitchFamily="18" charset="0"/>
              </a:rPr>
              <a:t>, Jeffrey D. Ullman, “Compilers: Principles Techniques and Tool”, Second Edition, Pearson Publication, 2007.​</a:t>
            </a:r>
          </a:p>
          <a:p>
            <a:r>
              <a:rPr lang="en-US" sz="2800" dirty="0"/>
              <a:t>​</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A.A </a:t>
            </a:r>
            <a:r>
              <a:rPr lang="en-US" sz="2400" dirty="0" err="1">
                <a:latin typeface="Cambria" panose="02040503050406030204" pitchFamily="18" charset="0"/>
                <a:ea typeface="Cambria" panose="02040503050406030204" pitchFamily="18" charset="0"/>
              </a:rPr>
              <a:t>Putambekar</a:t>
            </a:r>
            <a:r>
              <a:rPr lang="en-US" sz="2400" dirty="0">
                <a:latin typeface="Cambria" panose="02040503050406030204" pitchFamily="18" charset="0"/>
                <a:ea typeface="Cambria" panose="02040503050406030204" pitchFamily="18" charset="0"/>
              </a:rPr>
              <a:t>, “Compiler Construction”, Technical Publications, 2009.</a:t>
            </a:r>
            <a:r>
              <a:rPr lang="en-US" sz="2800" dirty="0"/>
              <a:t> ​</a:t>
            </a:r>
          </a:p>
          <a:p>
            <a:r>
              <a:rPr lang="en-US" sz="2800" dirty="0"/>
              <a:t>​</a:t>
            </a:r>
          </a:p>
          <a:p>
            <a:r>
              <a:rPr lang="en-US" sz="2800" b="1" dirty="0">
                <a:latin typeface="Cambria" panose="02040503050406030204" pitchFamily="18" charset="0"/>
                <a:ea typeface="Cambria" panose="02040503050406030204" pitchFamily="18" charset="0"/>
              </a:rPr>
              <a:t>Reference Book: </a:t>
            </a:r>
            <a:r>
              <a:rPr lang="en-US" sz="2800" dirty="0">
                <a:latin typeface="Cambria" panose="02040503050406030204" pitchFamily="18" charset="0"/>
                <a:ea typeface="Cambria" panose="02040503050406030204" pitchFamily="18" charset="0"/>
              </a:rPr>
              <a:t>​</a:t>
            </a:r>
          </a:p>
          <a:p>
            <a:pPr marL="457200" indent="-457200">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Des </a:t>
            </a:r>
            <a:r>
              <a:rPr lang="en-US" sz="2400" dirty="0">
                <a:latin typeface="Cambria" panose="02040503050406030204" pitchFamily="18" charset="0"/>
                <a:ea typeface="Cambria" panose="02040503050406030204" pitchFamily="18" charset="0"/>
              </a:rPr>
              <a:t>Watson, A Practical Approach to Compiler Construction, First </a:t>
            </a:r>
            <a:r>
              <a:rPr lang="en-US" sz="2400" dirty="0" smtClean="0">
                <a:latin typeface="Cambria" panose="02040503050406030204" pitchFamily="18" charset="0"/>
                <a:ea typeface="Cambria" panose="02040503050406030204" pitchFamily="18" charset="0"/>
              </a:rPr>
              <a:t> Edition</a:t>
            </a:r>
            <a:r>
              <a:rPr lang="en-US" sz="2400" dirty="0">
                <a:latin typeface="Cambria" panose="02040503050406030204" pitchFamily="18" charset="0"/>
                <a:ea typeface="Cambria" panose="02040503050406030204" pitchFamily="18" charset="0"/>
              </a:rPr>
              <a:t>, Springer, 2017​</a:t>
            </a:r>
          </a:p>
        </p:txBody>
      </p:sp>
    </p:spTree>
    <p:extLst>
      <p:ext uri="{BB962C8B-B14F-4D97-AF65-F5344CB8AC3E}">
        <p14:creationId xmlns:p14="http://schemas.microsoft.com/office/powerpoint/2010/main" val="30804919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4B237-5166-498C-950D-FECECF883C50}"/>
              </a:ext>
            </a:extLst>
          </p:cNvPr>
          <p:cNvSpPr>
            <a:spLocks noGrp="1"/>
          </p:cNvSpPr>
          <p:nvPr>
            <p:ph type="title"/>
          </p:nvPr>
        </p:nvSpPr>
        <p:spPr/>
        <p:txBody>
          <a:bodyPr/>
          <a:lstStyle/>
          <a:p>
            <a:pPr algn="l"/>
            <a:r>
              <a:rPr lang="en-US" b="1" dirty="0">
                <a:solidFill>
                  <a:srgbClr val="C00000"/>
                </a:solidFill>
              </a:rPr>
              <a:t/>
            </a:r>
            <a:br>
              <a:rPr lang="en-US" b="1" dirty="0">
                <a:solidFill>
                  <a:srgbClr val="C00000"/>
                </a:solidFill>
              </a:rPr>
            </a:br>
            <a:r>
              <a:rPr lang="en-US" sz="3200" b="1" dirty="0" smtClean="0">
                <a:solidFill>
                  <a:srgbClr val="C00000"/>
                </a:solidFill>
                <a:latin typeface="Cambria" panose="02040503050406030204" pitchFamily="18" charset="0"/>
                <a:ea typeface="Cambria" panose="02040503050406030204" pitchFamily="18" charset="0"/>
              </a:rPr>
              <a:t>OBJECTIVES</a:t>
            </a:r>
            <a:endParaRPr lang="en-IN" sz="3200" dirty="0">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EE482C4E-0FF2-4910-A77E-5C8A84438B74}"/>
              </a:ext>
            </a:extLst>
          </p:cNvPr>
          <p:cNvSpPr>
            <a:spLocks noGrp="1"/>
          </p:cNvSpPr>
          <p:nvPr>
            <p:ph idx="1"/>
          </p:nvPr>
        </p:nvSpPr>
        <p:spPr>
          <a:xfrm>
            <a:off x="2152650" y="1690688"/>
            <a:ext cx="7886700" cy="4351338"/>
          </a:xfrm>
        </p:spPr>
        <p:txBody>
          <a:bodyPr/>
          <a:lstStyle/>
          <a:p>
            <a:pPr marL="0" indent="0">
              <a:buNone/>
            </a:pPr>
            <a:r>
              <a:rPr lang="en-US" dirty="0"/>
              <a:t> </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ACADEB6-28B6-4376-B628-E86EBC9CB678}"/>
              </a:ext>
            </a:extLst>
          </p:cNvPr>
          <p:cNvSpPr>
            <a:spLocks noGrp="1"/>
          </p:cNvSpPr>
          <p:nvPr>
            <p:ph type="sldNum" sz="quarter" idx="12"/>
          </p:nvPr>
        </p:nvSpPr>
        <p:spPr/>
        <p:txBody>
          <a:bodyPr/>
          <a:lstStyle/>
          <a:p>
            <a:pPr>
              <a:defRPr/>
            </a:pPr>
            <a:fld id="{0314B9FC-F7FA-4A5F-A68B-9084E75933A3}" type="slidenum">
              <a:rPr lang="en-US" altLang="en-US" smtClean="0"/>
              <a:pPr>
                <a:defRPr/>
              </a:pPr>
              <a:t>4</a:t>
            </a:fld>
            <a:endParaRPr lang="en-US" altLang="en-US" dirty="0"/>
          </a:p>
        </p:txBody>
      </p:sp>
      <p:graphicFrame>
        <p:nvGraphicFramePr>
          <p:cNvPr id="5" name="Table 5">
            <a:extLst>
              <a:ext uri="{FF2B5EF4-FFF2-40B4-BE49-F238E27FC236}">
                <a16:creationId xmlns:a16="http://schemas.microsoft.com/office/drawing/2014/main" id="{78179D76-9B7B-40EA-9BB3-A45B29C7A00A}"/>
              </a:ext>
            </a:extLst>
          </p:cNvPr>
          <p:cNvGraphicFramePr>
            <a:graphicFrameLocks noGrp="1"/>
          </p:cNvGraphicFramePr>
          <p:nvPr>
            <p:extLst>
              <p:ext uri="{D42A27DB-BD31-4B8C-83A1-F6EECF244321}">
                <p14:modId xmlns:p14="http://schemas.microsoft.com/office/powerpoint/2010/main" val="3211068781"/>
              </p:ext>
            </p:extLst>
          </p:nvPr>
        </p:nvGraphicFramePr>
        <p:xfrm>
          <a:off x="838200" y="1828800"/>
          <a:ext cx="8763000" cy="2227514"/>
        </p:xfrm>
        <a:graphic>
          <a:graphicData uri="http://schemas.openxmlformats.org/drawingml/2006/table">
            <a:tbl>
              <a:tblPr firstRow="1" bandRow="1">
                <a:tableStyleId>{7DF18680-E054-41AD-8BC1-D1AEF772440D}</a:tableStyleId>
              </a:tblPr>
              <a:tblGrid>
                <a:gridCol w="8763000">
                  <a:extLst>
                    <a:ext uri="{9D8B030D-6E8A-4147-A177-3AD203B41FA5}">
                      <a16:colId xmlns:a16="http://schemas.microsoft.com/office/drawing/2014/main" val="935080871"/>
                    </a:ext>
                  </a:extLst>
                </a:gridCol>
              </a:tblGrid>
              <a:tr h="752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dirty="0">
                          <a:latin typeface="Cambria" panose="02040503050406030204" pitchFamily="18" charset="0"/>
                          <a:ea typeface="Cambria" panose="02040503050406030204" pitchFamily="18" charset="0"/>
                        </a:rPr>
                        <a:t>After completing this section, you will be able to </a:t>
                      </a:r>
                    </a:p>
                  </a:txBody>
                  <a:tcPr/>
                </a:tc>
                <a:extLst>
                  <a:ext uri="{0D108BD9-81ED-4DB2-BD59-A6C34878D82A}">
                    <a16:rowId xmlns:a16="http://schemas.microsoft.com/office/drawing/2014/main" val="72009204"/>
                  </a:ext>
                </a:extLst>
              </a:tr>
              <a:tr h="652114">
                <a:tc>
                  <a:txBody>
                    <a:bodyPr/>
                    <a:lstStyle/>
                    <a:p>
                      <a:pPr marL="0" indent="0" algn="just">
                        <a:buFontTx/>
                        <a:buAutoNum type="arabicPeriod"/>
                      </a:pPr>
                      <a:r>
                        <a:rPr lang="en-US" sz="2400" dirty="0" smtClean="0">
                          <a:latin typeface="Cambria" panose="02040503050406030204" pitchFamily="18" charset="0"/>
                          <a:ea typeface="Cambria" panose="02040503050406030204" pitchFamily="18" charset="0"/>
                        </a:rPr>
                        <a:t>1 </a:t>
                      </a:r>
                      <a:r>
                        <a:rPr lang="en-US" altLang="en-US" sz="2400" dirty="0" smtClean="0"/>
                        <a:t>Understand the working of compiler.</a:t>
                      </a:r>
                    </a:p>
                  </a:txBody>
                  <a:tcPr/>
                </a:tc>
                <a:extLst>
                  <a:ext uri="{0D108BD9-81ED-4DB2-BD59-A6C34878D82A}">
                    <a16:rowId xmlns:a16="http://schemas.microsoft.com/office/drawing/2014/main" val="4195794748"/>
                  </a:ext>
                </a:extLst>
              </a:tr>
              <a:tr h="652114">
                <a:tc>
                  <a:txBody>
                    <a:bodyPr/>
                    <a:lstStyle/>
                    <a:p>
                      <a:pPr marL="0" indent="0" algn="just">
                        <a:buFontTx/>
                        <a:buNone/>
                      </a:pPr>
                      <a:r>
                        <a:rPr lang="en-US" sz="2400" dirty="0">
                          <a:latin typeface="Cambria" panose="02040503050406030204" pitchFamily="18" charset="0"/>
                          <a:ea typeface="Cambria" panose="02040503050406030204" pitchFamily="18" charset="0"/>
                        </a:rPr>
                        <a:t>1.2 </a:t>
                      </a:r>
                      <a:r>
                        <a:rPr lang="en-US" altLang="en-US" sz="2400" dirty="0" smtClean="0"/>
                        <a:t>Understand the different phases of compiler.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796563902"/>
                  </a:ext>
                </a:extLst>
              </a:tr>
            </a:tbl>
          </a:graphicData>
        </a:graphic>
      </p:graphicFrame>
    </p:spTree>
    <p:custDataLst>
      <p:tags r:id="rId1"/>
    </p:custDataLst>
    <p:extLst>
      <p:ext uri="{BB962C8B-B14F-4D97-AF65-F5344CB8AC3E}">
        <p14:creationId xmlns:p14="http://schemas.microsoft.com/office/powerpoint/2010/main" val="2063061047"/>
      </p:ext>
    </p:extLst>
  </p:cSld>
  <p:clrMapOvr>
    <a:masterClrMapping/>
  </p:clrMapOvr>
  <mc:AlternateContent xmlns:mc="http://schemas.openxmlformats.org/markup-compatibility/2006" xmlns:p14="http://schemas.microsoft.com/office/powerpoint/2010/main">
    <mc:Choice Requires="p14">
      <p:transition spd="slow" p14:dur="2000" advTm="35798"/>
    </mc:Choice>
    <mc:Fallback xmlns="">
      <p:transition spd="slow" advTm="35798"/>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sz="4000" b="1" dirty="0">
                <a:latin typeface="Cambria" panose="02040503050406030204" pitchFamily="18" charset="0"/>
                <a:ea typeface="Cambria" panose="02040503050406030204" pitchFamily="18" charset="0"/>
              </a:rPr>
              <a:t>Module Assessment</a:t>
            </a:r>
            <a:r>
              <a:rPr lang="en-US" sz="4000" dirty="0">
                <a:latin typeface="Cambria" panose="02040503050406030204" pitchFamily="18" charset="0"/>
                <a:ea typeface="Cambria" panose="02040503050406030204" pitchFamily="18" charset="0"/>
              </a:rPr>
              <a:t>​</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5</a:t>
            </a:fld>
            <a:endParaRPr lang="en-US" altLang="en-US" dirty="0"/>
          </a:p>
        </p:txBody>
      </p:sp>
      <p:sp>
        <p:nvSpPr>
          <p:cNvPr id="6" name="Rectangle 5"/>
          <p:cNvSpPr/>
          <p:nvPr/>
        </p:nvSpPr>
        <p:spPr>
          <a:xfrm>
            <a:off x="228600" y="1523999"/>
            <a:ext cx="11734800" cy="51974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342900" indent="-342900">
              <a:buFont typeface="Arial" panose="020B0604020202020204" pitchFamily="34" charset="0"/>
              <a:buChar char="•"/>
            </a:pPr>
            <a:endParaRPr lang="en-US" sz="2400" dirty="0" smtClean="0"/>
          </a:p>
          <a:p>
            <a:pPr marL="342900" indent="-342900">
              <a:buFont typeface="Arial" panose="020B0604020202020204" pitchFamily="34" charset="0"/>
              <a:buChar char="•"/>
            </a:pPr>
            <a:r>
              <a:rPr lang="en-US" sz="2800" dirty="0" smtClean="0"/>
              <a:t>Quiz </a:t>
            </a:r>
            <a:r>
              <a:rPr lang="en-US" sz="2800" dirty="0"/>
              <a:t>(Conceptual and Numerical Based</a:t>
            </a:r>
            <a:r>
              <a:rPr lang="en-US" sz="2800" dirty="0" smtClean="0"/>
              <a:t>)</a:t>
            </a:r>
          </a:p>
          <a:p>
            <a:r>
              <a:rPr lang="en-US" sz="2800" dirty="0" smtClean="0"/>
              <a:t>​</a:t>
            </a:r>
            <a:endParaRPr lang="en-US" sz="2800" dirty="0"/>
          </a:p>
          <a:p>
            <a:pPr marL="342900" indent="-342900">
              <a:buFont typeface="Arial" panose="020B0604020202020204" pitchFamily="34" charset="0"/>
              <a:buChar char="•"/>
            </a:pPr>
            <a:r>
              <a:rPr lang="en-US" sz="2800" dirty="0"/>
              <a:t>Assignment</a:t>
            </a:r>
          </a:p>
        </p:txBody>
      </p:sp>
    </p:spTree>
    <p:extLst>
      <p:ext uri="{BB962C8B-B14F-4D97-AF65-F5344CB8AC3E}">
        <p14:creationId xmlns:p14="http://schemas.microsoft.com/office/powerpoint/2010/main" val="28527994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Translator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6</a:t>
            </a:fld>
            <a:endParaRPr lang="en-US" altLang="en-US" dirty="0"/>
          </a:p>
        </p:txBody>
      </p:sp>
      <p:sp>
        <p:nvSpPr>
          <p:cNvPr id="6" name="Rectangle 5"/>
          <p:cNvSpPr/>
          <p:nvPr/>
        </p:nvSpPr>
        <p:spPr>
          <a:xfrm>
            <a:off x="228600" y="1523999"/>
            <a:ext cx="11734800" cy="51974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r>
              <a:rPr lang="en-US" sz="2400" dirty="0" smtClean="0">
                <a:latin typeface="Cambria" panose="02040503050406030204" pitchFamily="18" charset="0"/>
                <a:ea typeface="Cambria" panose="02040503050406030204" pitchFamily="18" charset="0"/>
              </a:rPr>
              <a:t>It is a program that takes as input a program written in one programming language i.e. the source program and translates into an equivalent program in another language i.e. the target language</a:t>
            </a:r>
            <a:r>
              <a:rPr lang="en-US" sz="2400" dirty="0" smtClean="0"/>
              <a:t>.</a:t>
            </a:r>
          </a:p>
          <a:p>
            <a:endParaRPr lang="en-US" sz="2400" dirty="0"/>
          </a:p>
          <a:p>
            <a:endParaRPr lang="en-US" sz="2400" dirty="0" smtClean="0"/>
          </a:p>
          <a:p>
            <a:r>
              <a:rPr lang="en-US" sz="2400" dirty="0" smtClean="0"/>
              <a:t>       </a:t>
            </a:r>
          </a:p>
          <a:p>
            <a:r>
              <a:rPr lang="en-US" sz="2400" dirty="0"/>
              <a:t> </a:t>
            </a:r>
            <a:r>
              <a:rPr lang="en-US" sz="2400" dirty="0" smtClean="0"/>
              <a:t>  </a:t>
            </a:r>
          </a:p>
          <a:p>
            <a:r>
              <a:rPr lang="en-US" sz="2400" dirty="0"/>
              <a:t> </a:t>
            </a:r>
            <a:r>
              <a:rPr lang="en-US" sz="2400" dirty="0" smtClean="0"/>
              <a:t>    </a:t>
            </a:r>
            <a:r>
              <a:rPr lang="en-US" sz="2400" dirty="0" smtClean="0">
                <a:latin typeface="Cambria" panose="02040503050406030204" pitchFamily="18" charset="0"/>
                <a:ea typeface="Cambria" panose="02040503050406030204" pitchFamily="18" charset="0"/>
              </a:rPr>
              <a:t>Source program                                                                                 Target program</a:t>
            </a: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r>
              <a:rPr lang="en-US" sz="2400" dirty="0" smtClean="0">
                <a:latin typeface="Cambria" panose="02040503050406030204" pitchFamily="18" charset="0"/>
                <a:ea typeface="Cambria" panose="02040503050406030204" pitchFamily="18" charset="0"/>
              </a:rPr>
              <a:t>Compiler is a translator.</a:t>
            </a:r>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smtClean="0"/>
          </a:p>
        </p:txBody>
      </p:sp>
      <p:sp>
        <p:nvSpPr>
          <p:cNvPr id="3" name="Rectangle 2"/>
          <p:cNvSpPr/>
          <p:nvPr/>
        </p:nvSpPr>
        <p:spPr>
          <a:xfrm>
            <a:off x="3733800" y="3429000"/>
            <a:ext cx="3352800" cy="1524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400" dirty="0" smtClean="0">
                <a:latin typeface="Cambria" panose="02040503050406030204" pitchFamily="18" charset="0"/>
                <a:ea typeface="Cambria" panose="02040503050406030204" pitchFamily="18" charset="0"/>
              </a:rPr>
              <a:t>Translator</a:t>
            </a:r>
            <a:endParaRPr lang="en-IN" sz="2400" dirty="0">
              <a:latin typeface="Cambria" panose="02040503050406030204" pitchFamily="18" charset="0"/>
              <a:ea typeface="Cambria" panose="02040503050406030204" pitchFamily="18" charset="0"/>
            </a:endParaRPr>
          </a:p>
        </p:txBody>
      </p:sp>
      <p:cxnSp>
        <p:nvCxnSpPr>
          <p:cNvPr id="7" name="Straight Arrow Connector 6"/>
          <p:cNvCxnSpPr/>
          <p:nvPr/>
        </p:nvCxnSpPr>
        <p:spPr>
          <a:xfrm>
            <a:off x="2743200" y="4343400"/>
            <a:ext cx="990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7086600" y="4308764"/>
            <a:ext cx="990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5332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7</a:t>
            </a:fld>
            <a:endParaRPr lang="en-US" altLang="en-US" dirty="0"/>
          </a:p>
        </p:txBody>
      </p:sp>
      <p:sp>
        <p:nvSpPr>
          <p:cNvPr id="6" name="Rectangle 5"/>
          <p:cNvSpPr/>
          <p:nvPr/>
        </p:nvSpPr>
        <p:spPr>
          <a:xfrm>
            <a:off x="228600" y="1523999"/>
            <a:ext cx="11734800" cy="5197475"/>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defRPr/>
            </a:pPr>
            <a:r>
              <a:rPr lang="en-US" sz="2400" b="1" dirty="0">
                <a:latin typeface="Cambria" panose="02040503050406030204" pitchFamily="18" charset="0"/>
                <a:ea typeface="Cambria" panose="02040503050406030204" pitchFamily="18" charset="0"/>
              </a:rPr>
              <a:t>Compiler</a:t>
            </a:r>
            <a:r>
              <a:rPr lang="en-US" sz="2400" dirty="0">
                <a:latin typeface="Cambria" panose="02040503050406030204" pitchFamily="18" charset="0"/>
                <a:ea typeface="Cambria" panose="02040503050406030204" pitchFamily="18" charset="0"/>
              </a:rPr>
              <a:t> is a software which converts a program written in high level language (Source Language) to low level language (Object/Target/Machine Language).</a:t>
            </a:r>
          </a:p>
          <a:p>
            <a:endParaRPr lang="en-US" sz="2400" dirty="0"/>
          </a:p>
          <a:p>
            <a:endParaRPr lang="en-US" sz="2400" dirty="0" smtClean="0"/>
          </a:p>
          <a:p>
            <a:r>
              <a:rPr lang="en-US" sz="2400" dirty="0" smtClean="0"/>
              <a:t>       </a:t>
            </a:r>
          </a:p>
          <a:p>
            <a:r>
              <a:rPr lang="en-US" sz="2400" dirty="0"/>
              <a:t> </a:t>
            </a:r>
            <a:r>
              <a:rPr lang="en-US" sz="2400" dirty="0" smtClean="0"/>
              <a:t>  </a:t>
            </a:r>
            <a:endParaRPr lang="en-US" sz="2400" dirty="0">
              <a:latin typeface="Cambria" panose="02040503050406030204" pitchFamily="18" charset="0"/>
              <a:ea typeface="Cambria" panose="02040503050406030204" pitchFamily="18" charset="0"/>
            </a:endParaRPr>
          </a:p>
          <a:p>
            <a:endParaRPr lang="en-US" sz="2400" dirty="0" smtClean="0"/>
          </a:p>
        </p:txBody>
      </p:sp>
      <p:pic>
        <p:nvPicPr>
          <p:cNvPr id="9" name="Picture 5">
            <a:extLst>
              <a:ext uri="{FF2B5EF4-FFF2-40B4-BE49-F238E27FC236}">
                <a16:creationId xmlns:a16="http://schemas.microsoft.com/office/drawing/2014/main" id="{E953A649-A73E-4FCE-90AF-CE633267E3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084510"/>
            <a:ext cx="8077200" cy="2630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8185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Language processing systems (using 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8</a:t>
            </a:fld>
            <a:endParaRPr lang="en-US" altLang="en-US" dirty="0"/>
          </a:p>
        </p:txBody>
      </p:sp>
      <p:sp>
        <p:nvSpPr>
          <p:cNvPr id="6" name="Rectangle 5"/>
          <p:cNvSpPr/>
          <p:nvPr/>
        </p:nvSpPr>
        <p:spPr>
          <a:xfrm>
            <a:off x="228600" y="1523999"/>
            <a:ext cx="11734800" cy="519747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400" dirty="0"/>
          </a:p>
          <a:p>
            <a:endParaRPr lang="en-US" sz="2400" dirty="0" smtClean="0"/>
          </a:p>
          <a:p>
            <a:r>
              <a:rPr lang="en-US" sz="2400" dirty="0" smtClean="0"/>
              <a:t>       </a:t>
            </a:r>
          </a:p>
          <a:p>
            <a:r>
              <a:rPr lang="en-US" sz="2400" dirty="0"/>
              <a:t> </a:t>
            </a:r>
            <a:r>
              <a:rPr lang="en-US" sz="2400" dirty="0" smtClean="0"/>
              <a:t>  </a:t>
            </a:r>
            <a:endParaRPr lang="en-US" sz="2400" dirty="0">
              <a:latin typeface="Cambria" panose="02040503050406030204" pitchFamily="18" charset="0"/>
              <a:ea typeface="Cambria" panose="02040503050406030204" pitchFamily="18" charset="0"/>
            </a:endParaRPr>
          </a:p>
          <a:p>
            <a:endParaRPr lang="en-US" sz="2400" dirty="0" smtClean="0"/>
          </a:p>
        </p:txBody>
      </p:sp>
      <p:pic>
        <p:nvPicPr>
          <p:cNvPr id="7" name="Picture 5">
            <a:extLst>
              <a:ext uri="{FF2B5EF4-FFF2-40B4-BE49-F238E27FC236}">
                <a16:creationId xmlns:a16="http://schemas.microsoft.com/office/drawing/2014/main" id="{941EE4D1-B3BB-476C-BCFF-F55B9F39C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759744"/>
            <a:ext cx="51054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57944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Cousins of Compiler(other translators)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9</a:t>
            </a:fld>
            <a:endParaRPr lang="en-US" altLang="en-US" dirty="0"/>
          </a:p>
        </p:txBody>
      </p:sp>
      <p:sp>
        <p:nvSpPr>
          <p:cNvPr id="6" name="Rectangle 5"/>
          <p:cNvSpPr/>
          <p:nvPr/>
        </p:nvSpPr>
        <p:spPr>
          <a:xfrm>
            <a:off x="228600" y="1598615"/>
            <a:ext cx="11734800" cy="50307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457200" indent="-457200">
              <a:buFont typeface="+mj-lt"/>
              <a:buAutoNum type="arabicPeriod"/>
            </a:pPr>
            <a:r>
              <a:rPr lang="en-US" sz="2400" dirty="0" smtClean="0"/>
              <a:t> </a:t>
            </a:r>
            <a:r>
              <a:rPr lang="en-US" sz="2800" b="1" dirty="0" smtClean="0">
                <a:latin typeface="Cambria" panose="02040503050406030204" pitchFamily="18" charset="0"/>
                <a:ea typeface="Cambria" panose="02040503050406030204" pitchFamily="18" charset="0"/>
              </a:rPr>
              <a:t>Interpreter: </a:t>
            </a:r>
            <a:r>
              <a:rPr lang="en-US" sz="2400" dirty="0" smtClean="0">
                <a:latin typeface="Cambria" panose="02040503050406030204" pitchFamily="18" charset="0"/>
                <a:ea typeface="Cambria" panose="02040503050406030204" pitchFamily="18" charset="0"/>
              </a:rPr>
              <a:t>It is program that executes other programs. Instead of producing a target program as a translation, it executes a source program statement by statement.</a:t>
            </a:r>
          </a:p>
          <a:p>
            <a:pPr marL="457200" indent="-457200">
              <a:buFont typeface="+mj-lt"/>
              <a:buAutoNum type="arabicPeriod"/>
            </a:pPr>
            <a:endParaRPr lang="en-US" sz="2400" dirty="0">
              <a:latin typeface="Cambria" panose="02040503050406030204" pitchFamily="18" charset="0"/>
              <a:ea typeface="Cambria" panose="02040503050406030204" pitchFamily="18" charset="0"/>
            </a:endParaRPr>
          </a:p>
          <a:p>
            <a:pPr marL="457200" indent="-457200">
              <a:buFont typeface="+mj-lt"/>
              <a:buAutoNum type="arabicPeriod"/>
            </a:pPr>
            <a:endParaRPr lang="en-US" sz="2400" dirty="0" smtClean="0">
              <a:latin typeface="Cambria" panose="02040503050406030204" pitchFamily="18" charset="0"/>
              <a:ea typeface="Cambria" panose="02040503050406030204" pitchFamily="18" charset="0"/>
            </a:endParaRPr>
          </a:p>
          <a:p>
            <a:pPr marL="457200" indent="-457200">
              <a:buFont typeface="+mj-lt"/>
              <a:buAutoNum type="arabicPeriod"/>
            </a:pPr>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r>
              <a:rPr lang="en-US" sz="2400" dirty="0" smtClean="0">
                <a:latin typeface="Cambria" panose="02040503050406030204" pitchFamily="18" charset="0"/>
                <a:ea typeface="Cambria" panose="02040503050406030204" pitchFamily="18" charset="0"/>
              </a:rPr>
              <a:t>It is slower than Compiler but provides better error diagnostic than Compiler  </a:t>
            </a:r>
            <a:endParaRPr lang="en-US"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endParaRPr lang="en-US" sz="2400" dirty="0" smtClean="0"/>
          </a:p>
        </p:txBody>
      </p:sp>
      <p:pic>
        <p:nvPicPr>
          <p:cNvPr id="3" name="Picture 2"/>
          <p:cNvPicPr>
            <a:picLocks noChangeAspect="1"/>
          </p:cNvPicPr>
          <p:nvPr/>
        </p:nvPicPr>
        <p:blipFill>
          <a:blip r:embed="rId2"/>
          <a:stretch>
            <a:fillRect/>
          </a:stretch>
        </p:blipFill>
        <p:spPr>
          <a:xfrm>
            <a:off x="2514601" y="2832102"/>
            <a:ext cx="5624512" cy="1511298"/>
          </a:xfrm>
          <a:prstGeom prst="rect">
            <a:avLst/>
          </a:prstGeom>
        </p:spPr>
      </p:pic>
    </p:spTree>
    <p:extLst>
      <p:ext uri="{BB962C8B-B14F-4D97-AF65-F5344CB8AC3E}">
        <p14:creationId xmlns:p14="http://schemas.microsoft.com/office/powerpoint/2010/main" val="22219826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Cousins of Compiler(other translators)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10</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514350" indent="-514350">
              <a:buAutoNum type="arabicPeriod" startAt="2"/>
            </a:pPr>
            <a:r>
              <a:rPr lang="en-US" sz="2800" b="1" dirty="0" smtClean="0">
                <a:latin typeface="Cambria" panose="02040503050406030204" pitchFamily="18" charset="0"/>
                <a:ea typeface="Cambria" panose="02040503050406030204" pitchFamily="18" charset="0"/>
              </a:rPr>
              <a:t>Preprocessor : </a:t>
            </a:r>
            <a:r>
              <a:rPr lang="en-US" sz="2400" dirty="0" smtClean="0">
                <a:latin typeface="Cambria" panose="02040503050406030204" pitchFamily="18" charset="0"/>
                <a:ea typeface="Cambria" panose="02040503050406030204" pitchFamily="18" charset="0"/>
              </a:rPr>
              <a:t>It translates programs written in one high level language into another high level language program.</a:t>
            </a:r>
          </a:p>
          <a:p>
            <a:pPr marL="457200" indent="-457200">
              <a:buAutoNum type="arabicPeriod" startAt="2"/>
            </a:pPr>
            <a:endParaRPr lang="en-US" sz="2400" dirty="0">
              <a:latin typeface="Cambria" panose="02040503050406030204" pitchFamily="18" charset="0"/>
              <a:ea typeface="Cambria" panose="02040503050406030204" pitchFamily="18" charset="0"/>
            </a:endParaRPr>
          </a:p>
          <a:p>
            <a:pPr marL="457200" indent="-457200">
              <a:buAutoNum type="arabicPeriod" startAt="2"/>
            </a:pPr>
            <a:r>
              <a:rPr lang="en-US" sz="2800" b="1" dirty="0" smtClean="0">
                <a:latin typeface="Cambria" panose="02040503050406030204" pitchFamily="18" charset="0"/>
                <a:ea typeface="Cambria" panose="02040503050406030204" pitchFamily="18" charset="0"/>
              </a:rPr>
              <a:t>Assembler: </a:t>
            </a:r>
            <a:r>
              <a:rPr lang="en-US" sz="2400" dirty="0" smtClean="0">
                <a:latin typeface="Cambria" panose="02040503050406030204" pitchFamily="18" charset="0"/>
                <a:ea typeface="Cambria" panose="02040503050406030204" pitchFamily="18" charset="0"/>
              </a:rPr>
              <a:t>It translates assembly language program into machine language program</a:t>
            </a:r>
          </a:p>
          <a:p>
            <a:pPr marL="457200" indent="-457200">
              <a:buFont typeface="+mj-lt"/>
              <a:buAutoNum type="arabicPeriod"/>
            </a:pPr>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66968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Structure of a 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11</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r>
              <a:rPr lang="en-US" sz="2400" dirty="0" smtClean="0">
                <a:latin typeface="Cambria" panose="02040503050406030204" pitchFamily="18" charset="0"/>
                <a:ea typeface="Cambria" panose="02040503050406030204" pitchFamily="18" charset="0"/>
              </a:rPr>
              <a:t>Compilation process is a complex process, so it is partitioned into a series of sub processes called Phases.</a:t>
            </a:r>
          </a:p>
          <a:p>
            <a:pPr algn="just"/>
            <a:endParaRPr lang="en-US" sz="2400" dirty="0">
              <a:latin typeface="Cambria" panose="02040503050406030204" pitchFamily="18" charset="0"/>
              <a:ea typeface="Cambria" panose="02040503050406030204" pitchFamily="18" charset="0"/>
            </a:endParaRPr>
          </a:p>
          <a:p>
            <a:pPr algn="just"/>
            <a:r>
              <a:rPr lang="en-US" sz="2800" b="1" dirty="0" smtClean="0">
                <a:latin typeface="Cambria" panose="02040503050406030204" pitchFamily="18" charset="0"/>
                <a:ea typeface="Cambria" panose="02040503050406030204" pitchFamily="18" charset="0"/>
              </a:rPr>
              <a:t>Phases: </a:t>
            </a:r>
            <a:r>
              <a:rPr lang="en-US" sz="2400" dirty="0" smtClean="0">
                <a:latin typeface="Cambria" panose="02040503050406030204" pitchFamily="18" charset="0"/>
                <a:ea typeface="Cambria" panose="02040503050406030204" pitchFamily="18" charset="0"/>
              </a:rPr>
              <a:t>A</a:t>
            </a:r>
            <a:r>
              <a:rPr lang="en-US" sz="2800" b="1" dirty="0" smtClean="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phase is logically an operation which takes as input one representation of source program and produces as output another representation. </a:t>
            </a:r>
          </a:p>
          <a:p>
            <a:pPr algn="just"/>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There are six different phases of compiler.</a:t>
            </a: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762636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Structure of a 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12</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p:txBody>
      </p:sp>
      <p:pic>
        <p:nvPicPr>
          <p:cNvPr id="5" name="Picture 5">
            <a:extLst>
              <a:ext uri="{FF2B5EF4-FFF2-40B4-BE49-F238E27FC236}">
                <a16:creationId xmlns:a16="http://schemas.microsoft.com/office/drawing/2014/main" id="{C113A2CB-BC76-4211-9E60-A18E686DFE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637507"/>
            <a:ext cx="7162800" cy="4839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7349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Analysis-Synthesis model of 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13</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lgn="just">
              <a:buFontTx/>
              <a:buNone/>
            </a:pPr>
            <a:r>
              <a:rPr lang="en-US" altLang="en-US" sz="2400" dirty="0">
                <a:latin typeface="Cambria" panose="02040503050406030204" pitchFamily="18" charset="0"/>
                <a:ea typeface="Cambria" panose="02040503050406030204" pitchFamily="18" charset="0"/>
              </a:rPr>
              <a:t>We basically have two </a:t>
            </a:r>
            <a:r>
              <a:rPr lang="en-US" altLang="en-US" sz="2400" dirty="0" smtClean="0">
                <a:latin typeface="Cambria" panose="02040503050406030204" pitchFamily="18" charset="0"/>
                <a:ea typeface="Cambria" panose="02040503050406030204" pitchFamily="18" charset="0"/>
              </a:rPr>
              <a:t>parts </a:t>
            </a:r>
            <a:r>
              <a:rPr lang="en-US" altLang="en-US" sz="2400" dirty="0">
                <a:latin typeface="Cambria" panose="02040503050406030204" pitchFamily="18" charset="0"/>
                <a:ea typeface="Cambria" panose="02040503050406030204" pitchFamily="18" charset="0"/>
              </a:rPr>
              <a:t>of </a:t>
            </a:r>
            <a:r>
              <a:rPr lang="en-US" altLang="en-US" sz="2400" dirty="0" smtClean="0">
                <a:latin typeface="Cambria" panose="02040503050406030204" pitchFamily="18" charset="0"/>
                <a:ea typeface="Cambria" panose="02040503050406030204" pitchFamily="18" charset="0"/>
              </a:rPr>
              <a:t>compilers:</a:t>
            </a:r>
          </a:p>
          <a:p>
            <a:pPr marL="457200" indent="-457200" algn="just">
              <a:buFont typeface="+mj-lt"/>
              <a:buAutoNum type="arabicPeriod"/>
            </a:pPr>
            <a:r>
              <a:rPr lang="en-US" altLang="en-US" sz="2800" b="1" i="1" dirty="0" smtClean="0">
                <a:latin typeface="Cambria" panose="02040503050406030204" pitchFamily="18" charset="0"/>
                <a:ea typeface="Cambria" panose="02040503050406030204" pitchFamily="18" charset="0"/>
              </a:rPr>
              <a:t>Analysis part</a:t>
            </a:r>
          </a:p>
          <a:p>
            <a:pPr marL="457200" indent="-457200" algn="just">
              <a:buFont typeface="+mj-lt"/>
              <a:buAutoNum type="arabicPeriod"/>
            </a:pPr>
            <a:r>
              <a:rPr lang="en-US" altLang="en-US" sz="2800" b="1" i="1" dirty="0" smtClean="0">
                <a:latin typeface="Cambria" panose="02040503050406030204" pitchFamily="18" charset="0"/>
                <a:ea typeface="Cambria" panose="02040503050406030204" pitchFamily="18" charset="0"/>
              </a:rPr>
              <a:t>Synthesis part</a:t>
            </a:r>
            <a:r>
              <a:rPr lang="en-US" altLang="en-US" sz="2400" i="1" dirty="0" smtClean="0">
                <a:latin typeface="Cambria" panose="02040503050406030204" pitchFamily="18" charset="0"/>
                <a:ea typeface="Cambria" panose="02040503050406030204" pitchFamily="18" charset="0"/>
              </a:rPr>
              <a:t>.</a:t>
            </a:r>
          </a:p>
          <a:p>
            <a:pPr algn="just"/>
            <a:endParaRPr lang="en-US" altLang="en-US" sz="2400" i="1" dirty="0">
              <a:latin typeface="Cambria" panose="02040503050406030204" pitchFamily="18" charset="0"/>
              <a:ea typeface="Cambria" panose="02040503050406030204" pitchFamily="18" charset="0"/>
            </a:endParaRPr>
          </a:p>
          <a:p>
            <a:pPr marL="457200" indent="-457200" algn="just">
              <a:buFontTx/>
              <a:buAutoNum type="arabicPeriod"/>
            </a:pPr>
            <a:r>
              <a:rPr lang="en-US" altLang="en-US" sz="2400" b="1" dirty="0" smtClean="0">
                <a:latin typeface="Cambria" panose="02040503050406030204" pitchFamily="18" charset="0"/>
                <a:ea typeface="Cambria" panose="02040503050406030204" pitchFamily="18" charset="0"/>
              </a:rPr>
              <a:t>Analysis </a:t>
            </a:r>
            <a:r>
              <a:rPr lang="en-US" altLang="en-US" sz="2400" b="1" dirty="0">
                <a:latin typeface="Cambria" panose="02040503050406030204" pitchFamily="18" charset="0"/>
                <a:ea typeface="Cambria" panose="02040503050406030204" pitchFamily="18" charset="0"/>
              </a:rPr>
              <a:t>phase</a:t>
            </a:r>
            <a:r>
              <a:rPr lang="en-US" altLang="en-US" sz="2400" dirty="0">
                <a:latin typeface="Cambria" panose="02040503050406030204" pitchFamily="18" charset="0"/>
                <a:ea typeface="Cambria" panose="02040503050406030204" pitchFamily="18" charset="0"/>
              </a:rPr>
              <a:t> creates an intermediate representation from the given source code. </a:t>
            </a:r>
            <a:endParaRPr lang="en-US" altLang="en-US" sz="2400" dirty="0" smtClean="0">
              <a:latin typeface="Cambria" panose="02040503050406030204" pitchFamily="18" charset="0"/>
              <a:ea typeface="Cambria" panose="02040503050406030204" pitchFamily="18" charset="0"/>
            </a:endParaRPr>
          </a:p>
          <a:p>
            <a:pPr marL="342900" indent="-342900" algn="just">
              <a:buFont typeface="Arial" panose="020B0604020202020204" pitchFamily="34" charset="0"/>
              <a:buChar char="•"/>
              <a:defRPr/>
            </a:pPr>
            <a:r>
              <a:rPr lang="en-US" sz="2400" dirty="0" smtClean="0">
                <a:latin typeface="Cambria" panose="02040503050406030204" pitchFamily="18" charset="0"/>
                <a:ea typeface="Cambria" panose="02040503050406030204" pitchFamily="18" charset="0"/>
              </a:rPr>
              <a:t>Lexical </a:t>
            </a:r>
            <a:r>
              <a:rPr lang="en-US" sz="2400" dirty="0">
                <a:latin typeface="Cambria" panose="02040503050406030204" pitchFamily="18" charset="0"/>
                <a:ea typeface="Cambria" panose="02040503050406030204" pitchFamily="18" charset="0"/>
              </a:rPr>
              <a:t>Analyzer</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Syntax Analyzer</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Semantic Analyzer</a:t>
            </a:r>
          </a:p>
          <a:p>
            <a:pPr algn="just"/>
            <a:r>
              <a:rPr lang="en-US" altLang="en-US" sz="2400" b="1" dirty="0" smtClean="0">
                <a:latin typeface="Cambria" panose="02040503050406030204" pitchFamily="18" charset="0"/>
                <a:ea typeface="Cambria" panose="02040503050406030204" pitchFamily="18" charset="0"/>
              </a:rPr>
              <a:t>2. Synthesis </a:t>
            </a:r>
            <a:r>
              <a:rPr lang="en-US" altLang="en-US" sz="2400" b="1" dirty="0">
                <a:latin typeface="Cambria" panose="02040503050406030204" pitchFamily="18" charset="0"/>
                <a:ea typeface="Cambria" panose="02040503050406030204" pitchFamily="18" charset="0"/>
              </a:rPr>
              <a:t>phase</a:t>
            </a:r>
            <a:r>
              <a:rPr lang="en-US" altLang="en-US" sz="2400" dirty="0">
                <a:latin typeface="Cambria" panose="02040503050406030204" pitchFamily="18" charset="0"/>
                <a:ea typeface="Cambria" panose="02040503050406030204" pitchFamily="18" charset="0"/>
              </a:rPr>
              <a:t> creates an equivalent target program from the intermediate representation</a:t>
            </a:r>
            <a:r>
              <a:rPr lang="en-US" altLang="en-US" sz="2400" dirty="0" smtClean="0">
                <a:latin typeface="Cambria" panose="02040503050406030204" pitchFamily="18" charset="0"/>
                <a:ea typeface="Cambria" panose="02040503050406030204" pitchFamily="18" charset="0"/>
              </a:rPr>
              <a:t>.</a:t>
            </a:r>
          </a:p>
          <a:p>
            <a:pPr marL="342900" indent="-34290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Intermediate Code Generator</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Code Optimizer</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Code Generator</a:t>
            </a:r>
          </a:p>
          <a:p>
            <a:pPr marL="342900" indent="-342900" algn="just">
              <a:buFont typeface="Arial" panose="020B0604020202020204" pitchFamily="34" charset="0"/>
              <a:buChar char="•"/>
            </a:pPr>
            <a:endParaRPr lang="en-US" alt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564723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Grouping of Phases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14</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lgn="just">
              <a:buFontTx/>
              <a:buNone/>
            </a:pPr>
            <a:r>
              <a:rPr lang="en-US" altLang="en-US" sz="2400" dirty="0" smtClean="0">
                <a:latin typeface="Cambria" panose="02040503050406030204" pitchFamily="18" charset="0"/>
                <a:ea typeface="Cambria" panose="02040503050406030204" pitchFamily="18" charset="0"/>
              </a:rPr>
              <a:t>Phases of Compiler are grouped into two:</a:t>
            </a:r>
          </a:p>
          <a:p>
            <a:pPr marL="457200" indent="-457200" algn="just">
              <a:buFont typeface="+mj-lt"/>
              <a:buAutoNum type="arabicPeriod"/>
            </a:pPr>
            <a:r>
              <a:rPr lang="en-US" altLang="en-US" sz="2400" b="1" i="1" dirty="0" smtClean="0">
                <a:latin typeface="Cambria" panose="02040503050406030204" pitchFamily="18" charset="0"/>
                <a:ea typeface="Cambria" panose="02040503050406030204" pitchFamily="18" charset="0"/>
              </a:rPr>
              <a:t>Front End</a:t>
            </a:r>
          </a:p>
          <a:p>
            <a:pPr marL="457200" indent="-457200" algn="just">
              <a:buFont typeface="+mj-lt"/>
              <a:buAutoNum type="arabicPeriod"/>
            </a:pPr>
            <a:r>
              <a:rPr lang="en-US" altLang="en-US" sz="2400" b="1" i="1" dirty="0" smtClean="0">
                <a:latin typeface="Cambria" panose="02040503050406030204" pitchFamily="18" charset="0"/>
                <a:ea typeface="Cambria" panose="02040503050406030204" pitchFamily="18" charset="0"/>
              </a:rPr>
              <a:t>Back End</a:t>
            </a:r>
            <a:endParaRPr lang="en-US" altLang="en-US" sz="2400" i="1" dirty="0" smtClean="0">
              <a:latin typeface="Cambria" panose="02040503050406030204" pitchFamily="18" charset="0"/>
              <a:ea typeface="Cambria" panose="02040503050406030204" pitchFamily="18" charset="0"/>
            </a:endParaRPr>
          </a:p>
          <a:p>
            <a:pPr algn="just"/>
            <a:r>
              <a:rPr lang="en-US" altLang="en-US" sz="2400" i="1" dirty="0" smtClean="0">
                <a:latin typeface="Cambria" panose="02040503050406030204" pitchFamily="18" charset="0"/>
                <a:ea typeface="Cambria" panose="02040503050406030204" pitchFamily="18" charset="0"/>
              </a:rPr>
              <a:t> </a:t>
            </a:r>
            <a:endParaRPr lang="en-US" altLang="en-US" sz="2400" i="1" dirty="0">
              <a:latin typeface="Cambria" panose="02040503050406030204" pitchFamily="18" charset="0"/>
              <a:ea typeface="Cambria" panose="02040503050406030204" pitchFamily="18" charset="0"/>
            </a:endParaRPr>
          </a:p>
          <a:p>
            <a:pPr marL="457200" indent="-457200" algn="just">
              <a:buFontTx/>
              <a:buAutoNum type="arabicPeriod"/>
            </a:pPr>
            <a:r>
              <a:rPr lang="en-US" altLang="en-US" sz="2400" b="1" dirty="0" smtClean="0">
                <a:latin typeface="Cambria" panose="02040503050406030204" pitchFamily="18" charset="0"/>
                <a:ea typeface="Cambria" panose="02040503050406030204" pitchFamily="18" charset="0"/>
              </a:rPr>
              <a:t>Front End : </a:t>
            </a:r>
            <a:r>
              <a:rPr lang="en-US" altLang="en-US" sz="2400" dirty="0" smtClean="0">
                <a:latin typeface="Cambria" panose="02040503050406030204" pitchFamily="18" charset="0"/>
                <a:ea typeface="Cambria" panose="02040503050406030204" pitchFamily="18" charset="0"/>
              </a:rPr>
              <a:t>It consists of those phases or parts of phases that primarily depends on the source language and are independent of the target machine. It includes lexical, syntax analysis, creation of symbol table, semantic analysis and generation of intermediate code. It also includes error handling which goes along with each of these phases.</a:t>
            </a:r>
            <a:endParaRPr lang="en-US" sz="2400" dirty="0" smtClean="0">
              <a:latin typeface="Cambria" panose="02040503050406030204" pitchFamily="18" charset="0"/>
              <a:ea typeface="Cambria" panose="02040503050406030204" pitchFamily="18" charset="0"/>
            </a:endParaRPr>
          </a:p>
          <a:p>
            <a:pPr marL="457200" indent="-457200" algn="just">
              <a:buAutoNum type="arabicPeriod" startAt="2"/>
            </a:pPr>
            <a:r>
              <a:rPr lang="en-US" altLang="en-US" sz="2400" b="1" dirty="0" smtClean="0">
                <a:latin typeface="Cambria" panose="02040503050406030204" pitchFamily="18" charset="0"/>
                <a:ea typeface="Cambria" panose="02040503050406030204" pitchFamily="18" charset="0"/>
              </a:rPr>
              <a:t>Back End: </a:t>
            </a:r>
            <a:r>
              <a:rPr lang="en-US" altLang="en-US" sz="2400" dirty="0" smtClean="0">
                <a:latin typeface="Cambria" panose="02040503050406030204" pitchFamily="18" charset="0"/>
                <a:ea typeface="Cambria" panose="02040503050406030204" pitchFamily="18" charset="0"/>
              </a:rPr>
              <a:t>It includes those phases or parts of phases that depend on the target machine and independent of the source language. It includes intermediate code         generation, code optimization, code generation along with the necessary </a:t>
            </a:r>
            <a:r>
              <a:rPr lang="en-US" altLang="en-US" sz="2400" smtClean="0">
                <a:latin typeface="Cambria" panose="02040503050406030204" pitchFamily="18" charset="0"/>
                <a:ea typeface="Cambria" panose="02040503050406030204" pitchFamily="18" charset="0"/>
              </a:rPr>
              <a:t>error    handling </a:t>
            </a:r>
            <a:r>
              <a:rPr lang="en-US" altLang="en-US" sz="2400" dirty="0">
                <a:latin typeface="Cambria" panose="02040503050406030204" pitchFamily="18" charset="0"/>
                <a:ea typeface="Cambria" panose="02040503050406030204" pitchFamily="18" charset="0"/>
              </a:rPr>
              <a:t>and </a:t>
            </a:r>
            <a:r>
              <a:rPr lang="en-US" altLang="en-US" sz="2400" dirty="0" smtClean="0">
                <a:latin typeface="Cambria" panose="02040503050406030204" pitchFamily="18" charset="0"/>
                <a:ea typeface="Cambria" panose="02040503050406030204" pitchFamily="18" charset="0"/>
              </a:rPr>
              <a:t>symbol table operations.</a:t>
            </a:r>
            <a:endParaRPr lang="en-US" alt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a:p>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518341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Example</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15</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400" dirty="0" smtClean="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2590800" y="1676400"/>
            <a:ext cx="7162799" cy="4679949"/>
          </a:xfrm>
          <a:prstGeom prst="rect">
            <a:avLst/>
          </a:prstGeom>
        </p:spPr>
      </p:pic>
    </p:spTree>
    <p:extLst>
      <p:ext uri="{BB962C8B-B14F-4D97-AF65-F5344CB8AC3E}">
        <p14:creationId xmlns:p14="http://schemas.microsoft.com/office/powerpoint/2010/main" val="42834023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Introduction of Lexical Analysis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16</a:t>
            </a:fld>
            <a:endParaRPr lang="en-US" altLang="en-US" dirty="0"/>
          </a:p>
        </p:txBody>
      </p:sp>
      <p:sp>
        <p:nvSpPr>
          <p:cNvPr id="6" name="Rectangle 5"/>
          <p:cNvSpPr/>
          <p:nvPr/>
        </p:nvSpPr>
        <p:spPr>
          <a:xfrm>
            <a:off x="228600" y="1598615"/>
            <a:ext cx="117348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r>
              <a:rPr lang="en-US" sz="2400" dirty="0">
                <a:latin typeface="Cambria" panose="02040503050406030204" pitchFamily="18" charset="0"/>
                <a:ea typeface="Cambria" panose="02040503050406030204" pitchFamily="18" charset="0"/>
              </a:rPr>
              <a:t>Lexical Analysis is the first phase of the compiler also known as a scanner</a:t>
            </a:r>
            <a:r>
              <a:rPr lang="en-US" sz="2400" dirty="0" smtClean="0">
                <a:latin typeface="Cambria" panose="02040503050406030204" pitchFamily="18" charset="0"/>
                <a:ea typeface="Cambria" panose="02040503050406030204" pitchFamily="18" charset="0"/>
              </a:rPr>
              <a:t>. Its main task is to read the input characters and produce a  sequence of tokens that the parser(next phase) uses for syntax analysis.</a:t>
            </a:r>
          </a:p>
          <a:p>
            <a:pPr algn="just"/>
            <a:endParaRPr lang="en-US" sz="2400" dirty="0">
              <a:latin typeface="Cambria" panose="02040503050406030204" pitchFamily="18" charset="0"/>
              <a:ea typeface="Cambria" panose="02040503050406030204" pitchFamily="18" charset="0"/>
            </a:endParaRPr>
          </a:p>
          <a:p>
            <a:pPr algn="just">
              <a:defRPr/>
            </a:pPr>
            <a:r>
              <a:rPr lang="en-US" sz="2400" dirty="0">
                <a:latin typeface="Cambria" panose="02040503050406030204" pitchFamily="18" charset="0"/>
                <a:ea typeface="Cambria" panose="02040503050406030204" pitchFamily="18" charset="0"/>
              </a:rPr>
              <a:t>Lexical Analysis can be implemented with the Deterministic finite Automata.</a:t>
            </a:r>
          </a:p>
          <a:p>
            <a:pPr algn="just">
              <a:defRPr/>
            </a:pPr>
            <a:r>
              <a:rPr lang="en-US" sz="2400" dirty="0">
                <a:latin typeface="Cambria" panose="02040503050406030204" pitchFamily="18" charset="0"/>
                <a:ea typeface="Cambria" panose="02040503050406030204" pitchFamily="18" charset="0"/>
              </a:rPr>
              <a:t>The output is a sequence of tokens that is sent to the parser for syntax analysis</a:t>
            </a:r>
            <a:r>
              <a:rPr lang="en-US" sz="2400" dirty="0"/>
              <a:t>.</a:t>
            </a:r>
          </a:p>
          <a:p>
            <a:pPr algn="just"/>
            <a:endParaRPr lang="en-US" sz="2400" dirty="0" smtClean="0">
              <a:latin typeface="Cambria" panose="02040503050406030204" pitchFamily="18" charset="0"/>
              <a:ea typeface="Cambria" panose="02040503050406030204" pitchFamily="18" charset="0"/>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l="-439" t="32634" r="439" b="4207"/>
          <a:stretch>
            <a:fillRect/>
          </a:stretch>
        </p:blipFill>
        <p:spPr bwMode="auto">
          <a:xfrm>
            <a:off x="1981200" y="4062412"/>
            <a:ext cx="6950075"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12683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IN" dirty="0" smtClean="0"/>
              <a:t/>
            </a:r>
            <a:br>
              <a:rPr lang="en-IN" dirty="0" smtClean="0"/>
            </a:br>
            <a:r>
              <a:rPr lang="en-US" sz="4000" dirty="0" smtClean="0">
                <a:latin typeface="Cambria" panose="02040503050406030204" pitchFamily="18" charset="0"/>
                <a:ea typeface="Cambria" panose="02040503050406030204" pitchFamily="18" charset="0"/>
              </a:rPr>
              <a:t>Some </a:t>
            </a:r>
            <a:r>
              <a:rPr lang="en-US" sz="4000" dirty="0">
                <a:latin typeface="Cambria" panose="02040503050406030204" pitchFamily="18" charset="0"/>
                <a:ea typeface="Cambria" panose="02040503050406030204" pitchFamily="18" charset="0"/>
              </a:rPr>
              <a:t>Important terms:</a:t>
            </a:r>
            <a:br>
              <a:rPr lang="en-US" sz="4000" dirty="0">
                <a:latin typeface="Cambria" panose="02040503050406030204" pitchFamily="18" charset="0"/>
                <a:ea typeface="Cambria" panose="02040503050406030204" pitchFamily="18" charset="0"/>
              </a:rPr>
            </a:b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17</a:t>
            </a:fld>
            <a:endParaRPr lang="en-US" altLang="en-US" dirty="0"/>
          </a:p>
        </p:txBody>
      </p:sp>
      <p:sp>
        <p:nvSpPr>
          <p:cNvPr id="6" name="Rectangle 5"/>
          <p:cNvSpPr/>
          <p:nvPr/>
        </p:nvSpPr>
        <p:spPr>
          <a:xfrm>
            <a:off x="228600" y="1447800"/>
            <a:ext cx="11582400" cy="5105401"/>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514350" indent="-514350" algn="just">
              <a:buFont typeface="+mj-lt"/>
              <a:buAutoNum type="arabicPeriod"/>
            </a:pPr>
            <a:r>
              <a:rPr lang="en-US" sz="2800" b="1" dirty="0" smtClean="0">
                <a:latin typeface="Cambria" panose="02040503050406030204" pitchFamily="18" charset="0"/>
                <a:ea typeface="Cambria" panose="02040503050406030204" pitchFamily="18" charset="0"/>
              </a:rPr>
              <a:t>Pattern:</a:t>
            </a:r>
            <a:r>
              <a:rPr lang="en-US" sz="2800" dirty="0" smtClean="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It is a rule which describes a set of lexemes that can represent a particular token in the source program. For </a:t>
            </a:r>
            <a:r>
              <a:rPr lang="en-US" sz="2400" dirty="0" err="1" smtClean="0">
                <a:latin typeface="Cambria" panose="02040503050406030204" pitchFamily="18" charset="0"/>
                <a:ea typeface="Cambria" panose="02040503050406030204" pitchFamily="18" charset="0"/>
              </a:rPr>
              <a:t>eg</a:t>
            </a:r>
            <a:r>
              <a:rPr lang="en-US" sz="2400" dirty="0" smtClean="0">
                <a:latin typeface="Cambria" panose="02040503050406030204" pitchFamily="18" charset="0"/>
                <a:ea typeface="Cambria" panose="02040503050406030204" pitchFamily="18" charset="0"/>
              </a:rPr>
              <a:t>.- an identifier can be described as a letter followed by letters or digit.</a:t>
            </a:r>
          </a:p>
          <a:p>
            <a:pPr marL="514350" indent="-514350" algn="just">
              <a:buFont typeface="+mj-lt"/>
              <a:buAutoNum type="arabicPeriod"/>
            </a:pPr>
            <a:endParaRPr lang="en-US" sz="2400"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US" sz="2800" b="1" dirty="0" smtClean="0">
                <a:latin typeface="Cambria" panose="02040503050406030204" pitchFamily="18" charset="0"/>
                <a:ea typeface="Cambria" panose="02040503050406030204" pitchFamily="18" charset="0"/>
              </a:rPr>
              <a:t>Lexeme: </a:t>
            </a:r>
            <a:r>
              <a:rPr lang="en-US" sz="2400" dirty="0" smtClean="0">
                <a:latin typeface="Cambria" panose="02040503050406030204" pitchFamily="18" charset="0"/>
                <a:ea typeface="Cambria" panose="02040503050406030204" pitchFamily="18" charset="0"/>
              </a:rPr>
              <a:t>Lexemes are the smallest logical units of a program. It is a sequence of characters present in the source program for which a token is produced. For </a:t>
            </a:r>
            <a:r>
              <a:rPr lang="en-US" sz="2400" dirty="0" err="1" smtClean="0">
                <a:latin typeface="Cambria" panose="02040503050406030204" pitchFamily="18" charset="0"/>
                <a:ea typeface="Cambria" panose="02040503050406030204" pitchFamily="18" charset="0"/>
              </a:rPr>
              <a:t>eg</a:t>
            </a:r>
            <a:r>
              <a:rPr lang="en-US" sz="2400" dirty="0" smtClean="0">
                <a:latin typeface="Cambria" panose="02040503050406030204" pitchFamily="18" charset="0"/>
                <a:ea typeface="Cambria" panose="02040503050406030204" pitchFamily="18" charset="0"/>
              </a:rPr>
              <a:t>.- 10, </a:t>
            </a:r>
            <a:r>
              <a:rPr lang="en-US" sz="2400" dirty="0" err="1" smtClean="0">
                <a:latin typeface="Cambria" panose="02040503050406030204" pitchFamily="18" charset="0"/>
                <a:ea typeface="Cambria" panose="02040503050406030204" pitchFamily="18" charset="0"/>
              </a:rPr>
              <a:t>int</a:t>
            </a:r>
            <a:r>
              <a:rPr lang="en-US" sz="2400" dirty="0" smtClean="0">
                <a:latin typeface="Cambria" panose="02040503050406030204" pitchFamily="18" charset="0"/>
                <a:ea typeface="Cambria" panose="02040503050406030204" pitchFamily="18" charset="0"/>
              </a:rPr>
              <a:t>, + , </a:t>
            </a:r>
            <a:r>
              <a:rPr lang="en-US" sz="2400" dirty="0" err="1" smtClean="0">
                <a:latin typeface="Cambria" panose="02040503050406030204" pitchFamily="18" charset="0"/>
                <a:ea typeface="Cambria" panose="02040503050406030204" pitchFamily="18" charset="0"/>
              </a:rPr>
              <a:t>etc</a:t>
            </a:r>
            <a:endParaRPr lang="en-US" sz="2400" dirty="0" smtClean="0">
              <a:latin typeface="Cambria" panose="02040503050406030204" pitchFamily="18" charset="0"/>
              <a:ea typeface="Cambria" panose="02040503050406030204" pitchFamily="18" charset="0"/>
            </a:endParaRPr>
          </a:p>
          <a:p>
            <a:pPr marL="514350" indent="-514350" algn="just">
              <a:buFont typeface="+mj-lt"/>
              <a:buAutoNum type="arabicPeriod"/>
            </a:pPr>
            <a:endParaRPr lang="en-US" sz="2400"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US" sz="2800" b="1" dirty="0" smtClean="0">
                <a:latin typeface="Cambria" panose="02040503050406030204" pitchFamily="18" charset="0"/>
                <a:ea typeface="Cambria" panose="02040503050406030204" pitchFamily="18" charset="0"/>
              </a:rPr>
              <a:t>Token:</a:t>
            </a:r>
            <a:r>
              <a:rPr lang="en-US" sz="2800" dirty="0" smtClean="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It is a sequence of characters that can be treated as a unit in the grammar of the programming languages.</a:t>
            </a:r>
          </a:p>
          <a:p>
            <a:pPr algn="just"/>
            <a:r>
              <a:rPr lang="en-US" sz="2400" dirty="0" smtClean="0">
                <a:latin typeface="Cambria" panose="02040503050406030204" pitchFamily="18" charset="0"/>
                <a:ea typeface="Cambria" panose="02040503050406030204" pitchFamily="18" charset="0"/>
              </a:rPr>
              <a:t>      Classes of similar lexemes are identified by the same token.</a:t>
            </a:r>
          </a:p>
          <a:p>
            <a:pPr algn="just"/>
            <a:r>
              <a:rPr lang="en-US" sz="2400" dirty="0" smtClean="0">
                <a:latin typeface="Cambria" panose="02040503050406030204" pitchFamily="18" charset="0"/>
                <a:ea typeface="Cambria" panose="02040503050406030204" pitchFamily="18" charset="0"/>
              </a:rPr>
              <a:t>      For </a:t>
            </a:r>
            <a:r>
              <a:rPr lang="en-US" sz="2400" dirty="0" err="1" smtClean="0">
                <a:latin typeface="Cambria" panose="02040503050406030204" pitchFamily="18" charset="0"/>
                <a:ea typeface="Cambria" panose="02040503050406030204" pitchFamily="18" charset="0"/>
              </a:rPr>
              <a:t>eg</a:t>
            </a:r>
            <a:r>
              <a:rPr lang="en-US" sz="2400" dirty="0" smtClean="0">
                <a:latin typeface="Cambria" panose="02040503050406030204" pitchFamily="18" charset="0"/>
                <a:ea typeface="Cambria" panose="02040503050406030204" pitchFamily="18" charset="0"/>
              </a:rPr>
              <a:t>: identifier, keyword, operator, constant, </a:t>
            </a:r>
            <a:r>
              <a:rPr lang="en-US" sz="2400" dirty="0" err="1" smtClean="0">
                <a:latin typeface="Cambria" panose="02040503050406030204" pitchFamily="18" charset="0"/>
                <a:ea typeface="Cambria" panose="02040503050406030204" pitchFamily="18" charset="0"/>
              </a:rPr>
              <a:t>delimeter</a:t>
            </a:r>
            <a:r>
              <a:rPr lang="en-US" sz="2400" dirty="0">
                <a:latin typeface="Cambria" panose="02040503050406030204" pitchFamily="18" charset="0"/>
                <a:ea typeface="Cambria" panose="02040503050406030204" pitchFamily="18" charset="0"/>
              </a:rPr>
              <a:t> </a:t>
            </a:r>
            <a:r>
              <a:rPr lang="en-US" sz="2400" dirty="0" smtClean="0">
                <a:latin typeface="Cambria" panose="02040503050406030204" pitchFamily="18" charset="0"/>
                <a:ea typeface="Cambria" panose="02040503050406030204" pitchFamily="18" charset="0"/>
              </a:rPr>
              <a:t>, etc.</a:t>
            </a:r>
            <a:endParaRPr lang="en-US" sz="2400" dirty="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4471620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Introduction of Lexical Analysis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18</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400" dirty="0" smtClean="0">
                <a:latin typeface="Cambria" panose="02040503050406030204" pitchFamily="18" charset="0"/>
                <a:ea typeface="Cambria" panose="02040503050406030204" pitchFamily="18" charset="0"/>
              </a:rPr>
              <a:t>Token may have two things:    &lt;token-name, token value&gt;</a:t>
            </a:r>
          </a:p>
          <a:p>
            <a:r>
              <a:rPr lang="en-US" sz="2400" dirty="0" smtClean="0">
                <a:latin typeface="Cambria" panose="02040503050406030204" pitchFamily="18" charset="0"/>
                <a:ea typeface="Cambria" panose="02040503050406030204" pitchFamily="18" charset="0"/>
              </a:rPr>
              <a:t>token-name is the type and token value points to an entry in the symbol table for the token. </a:t>
            </a:r>
          </a:p>
          <a:p>
            <a:pPr marL="0" indent="0" algn="just">
              <a:buFontTx/>
              <a:buNone/>
            </a:pPr>
            <a:r>
              <a:rPr lang="en-US" altLang="en-US" sz="2400" b="1" dirty="0"/>
              <a:t>Example of Non-Tokens:</a:t>
            </a:r>
          </a:p>
          <a:p>
            <a:pPr marL="0" indent="0" algn="just">
              <a:buFontTx/>
              <a:buNone/>
            </a:pPr>
            <a:r>
              <a:rPr lang="en-US" altLang="en-US" sz="2400" dirty="0"/>
              <a:t>Comments, preprocessor directive, macros, blanks, tabs, newline, etc.</a:t>
            </a:r>
          </a:p>
          <a:p>
            <a:endParaRPr lang="en-US" sz="2400"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1371600" y="1635922"/>
            <a:ext cx="8029575" cy="2439986"/>
          </a:xfrm>
          <a:prstGeom prst="rect">
            <a:avLst/>
          </a:prstGeom>
        </p:spPr>
      </p:pic>
    </p:spTree>
    <p:extLst>
      <p:ext uri="{BB962C8B-B14F-4D97-AF65-F5344CB8AC3E}">
        <p14:creationId xmlns:p14="http://schemas.microsoft.com/office/powerpoint/2010/main" val="16742882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Symbol Table in 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19</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smtClean="0">
              <a:latin typeface="Cambria" panose="02040503050406030204" pitchFamily="18" charset="0"/>
              <a:ea typeface="Cambria" panose="02040503050406030204" pitchFamily="18" charset="0"/>
            </a:endParaRPr>
          </a:p>
        </p:txBody>
      </p:sp>
      <p:sp>
        <p:nvSpPr>
          <p:cNvPr id="3" name="Rectangle 2"/>
          <p:cNvSpPr/>
          <p:nvPr/>
        </p:nvSpPr>
        <p:spPr>
          <a:xfrm>
            <a:off x="381000" y="1859340"/>
            <a:ext cx="10972800" cy="3970318"/>
          </a:xfrm>
          <a:prstGeom prst="rect">
            <a:avLst/>
          </a:prstGeom>
        </p:spPr>
        <p:txBody>
          <a:bodyPr wrap="square">
            <a:spAutoFit/>
          </a:bodyPr>
          <a:lstStyle/>
          <a:p>
            <a:pPr marL="0" indent="0" algn="just">
              <a:buFontTx/>
              <a:buNone/>
              <a:defRPr/>
            </a:pPr>
            <a:r>
              <a:rPr lang="en-US" sz="2800" b="1" dirty="0">
                <a:latin typeface="Cambria" panose="02040503050406030204" pitchFamily="18" charset="0"/>
                <a:ea typeface="Cambria" panose="02040503050406030204" pitchFamily="18" charset="0"/>
              </a:rPr>
              <a:t>Symbol Table</a:t>
            </a:r>
            <a:r>
              <a:rPr lang="en-US" sz="2800" dirty="0">
                <a:latin typeface="Cambria" panose="02040503050406030204" pitchFamily="18" charset="0"/>
                <a:ea typeface="Cambria" panose="02040503050406030204" pitchFamily="18" charset="0"/>
              </a:rPr>
              <a:t> is an important data structure created and maintained by the compiler in order to keep track of semantics of variable i.e. it stores information about scope and binding information about names, information about instances of various entities such as variable and function names, classes, objects, etc.</a:t>
            </a:r>
          </a:p>
          <a:p>
            <a:pPr algn="just">
              <a:defRPr/>
            </a:pPr>
            <a:r>
              <a:rPr lang="en-US" sz="2800" dirty="0">
                <a:latin typeface="Cambria" panose="02040503050406030204" pitchFamily="18" charset="0"/>
                <a:ea typeface="Cambria" panose="02040503050406030204" pitchFamily="18" charset="0"/>
              </a:rPr>
              <a:t>It is built in lexical and syntax analysis phases.</a:t>
            </a:r>
          </a:p>
          <a:p>
            <a:pPr algn="just">
              <a:defRPr/>
            </a:pPr>
            <a:r>
              <a:rPr lang="en-US" sz="2800" dirty="0">
                <a:latin typeface="Cambria" panose="02040503050406030204" pitchFamily="18" charset="0"/>
                <a:ea typeface="Cambria" panose="02040503050406030204" pitchFamily="18" charset="0"/>
              </a:rPr>
              <a:t>The information is collected by the analysis phases of compiler and is used by synthesis phases of compiler to generate code.</a:t>
            </a:r>
          </a:p>
          <a:p>
            <a:pPr algn="just">
              <a:defRPr/>
            </a:pPr>
            <a:r>
              <a:rPr lang="en-US" sz="2800" dirty="0">
                <a:latin typeface="Cambria" panose="02040503050406030204" pitchFamily="18" charset="0"/>
                <a:ea typeface="Cambria" panose="02040503050406030204" pitchFamily="18" charset="0"/>
              </a:rPr>
              <a:t>It is used by compiler to achieve compile time efficiency.</a:t>
            </a:r>
          </a:p>
        </p:txBody>
      </p:sp>
    </p:spTree>
    <p:extLst>
      <p:ext uri="{BB962C8B-B14F-4D97-AF65-F5344CB8AC3E}">
        <p14:creationId xmlns:p14="http://schemas.microsoft.com/office/powerpoint/2010/main" val="37256947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Symbol Table in Compiler</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20</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smtClean="0">
              <a:latin typeface="Cambria" panose="02040503050406030204" pitchFamily="18" charset="0"/>
              <a:ea typeface="Cambria" panose="02040503050406030204" pitchFamily="18" charset="0"/>
            </a:endParaRPr>
          </a:p>
        </p:txBody>
      </p:sp>
      <p:sp>
        <p:nvSpPr>
          <p:cNvPr id="3" name="Rectangle 2"/>
          <p:cNvSpPr/>
          <p:nvPr/>
        </p:nvSpPr>
        <p:spPr>
          <a:xfrm>
            <a:off x="381000" y="1598614"/>
            <a:ext cx="10972800" cy="4524315"/>
          </a:xfrm>
          <a:prstGeom prst="rect">
            <a:avLst/>
          </a:prstGeom>
        </p:spPr>
        <p:txBody>
          <a:bodyPr wrap="square">
            <a:spAutoFit/>
          </a:bodyPr>
          <a:lstStyle/>
          <a:p>
            <a:pPr marL="0" indent="0">
              <a:buFontTx/>
              <a:buNone/>
              <a:defRPr/>
            </a:pPr>
            <a:r>
              <a:rPr lang="en-US" sz="2400" b="1" dirty="0"/>
              <a:t>Items stored in Symbol table:</a:t>
            </a:r>
            <a:endParaRPr lang="en-US" sz="2400" dirty="0"/>
          </a:p>
          <a:p>
            <a:pPr>
              <a:defRPr/>
            </a:pPr>
            <a:r>
              <a:rPr lang="en-US" sz="2000" dirty="0"/>
              <a:t>Variable names and constants</a:t>
            </a:r>
          </a:p>
          <a:p>
            <a:pPr>
              <a:defRPr/>
            </a:pPr>
            <a:r>
              <a:rPr lang="en-US" sz="2000" dirty="0"/>
              <a:t>Procedure and function names</a:t>
            </a:r>
          </a:p>
          <a:p>
            <a:pPr>
              <a:defRPr/>
            </a:pPr>
            <a:r>
              <a:rPr lang="en-US" sz="2000" dirty="0"/>
              <a:t>Literal constants and strings</a:t>
            </a:r>
          </a:p>
          <a:p>
            <a:pPr>
              <a:defRPr/>
            </a:pPr>
            <a:r>
              <a:rPr lang="en-US" sz="2000" dirty="0"/>
              <a:t>Compiler generated temporaries</a:t>
            </a:r>
          </a:p>
          <a:p>
            <a:pPr>
              <a:defRPr/>
            </a:pPr>
            <a:r>
              <a:rPr lang="en-US" sz="2000" dirty="0"/>
              <a:t>Labels in source languages</a:t>
            </a:r>
          </a:p>
          <a:p>
            <a:pPr marL="0" indent="0">
              <a:buFontTx/>
              <a:buNone/>
              <a:defRPr/>
            </a:pPr>
            <a:r>
              <a:rPr lang="en-US" sz="2400" b="1" dirty="0" smtClean="0"/>
              <a:t>Information </a:t>
            </a:r>
            <a:r>
              <a:rPr lang="en-US" sz="2400" b="1" dirty="0"/>
              <a:t>used by compiler from Symbol table:</a:t>
            </a:r>
            <a:endParaRPr lang="en-US" sz="2400" dirty="0"/>
          </a:p>
          <a:p>
            <a:pPr>
              <a:defRPr/>
            </a:pPr>
            <a:r>
              <a:rPr lang="en-US" sz="2000" dirty="0"/>
              <a:t>Data type and name</a:t>
            </a:r>
          </a:p>
          <a:p>
            <a:pPr>
              <a:defRPr/>
            </a:pPr>
            <a:r>
              <a:rPr lang="en-US" sz="2000" dirty="0"/>
              <a:t>Declaring procedures</a:t>
            </a:r>
          </a:p>
          <a:p>
            <a:pPr>
              <a:defRPr/>
            </a:pPr>
            <a:r>
              <a:rPr lang="en-US" sz="2000" dirty="0"/>
              <a:t>Offset in storage</a:t>
            </a:r>
          </a:p>
          <a:p>
            <a:pPr>
              <a:defRPr/>
            </a:pPr>
            <a:r>
              <a:rPr lang="en-US" sz="2000" dirty="0"/>
              <a:t>If structure or record then, pointer to structure table.</a:t>
            </a:r>
          </a:p>
          <a:p>
            <a:pPr>
              <a:defRPr/>
            </a:pPr>
            <a:r>
              <a:rPr lang="en-US" sz="2000" dirty="0"/>
              <a:t>For parameters, whether parameter passing by value or by reference</a:t>
            </a:r>
          </a:p>
          <a:p>
            <a:pPr>
              <a:defRPr/>
            </a:pPr>
            <a:r>
              <a:rPr lang="en-US" sz="2000" dirty="0"/>
              <a:t>Number and type of arguments passed to function</a:t>
            </a:r>
          </a:p>
          <a:p>
            <a:pPr>
              <a:defRPr/>
            </a:pPr>
            <a:r>
              <a:rPr lang="en-US" sz="2000" dirty="0"/>
              <a:t>Base Address</a:t>
            </a:r>
          </a:p>
        </p:txBody>
      </p:sp>
    </p:spTree>
    <p:extLst>
      <p:ext uri="{BB962C8B-B14F-4D97-AF65-F5344CB8AC3E}">
        <p14:creationId xmlns:p14="http://schemas.microsoft.com/office/powerpoint/2010/main" val="34986631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Specification of Tokens(Pattern)</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21</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sz="2800" dirty="0" smtClean="0">
                <a:latin typeface="Cambria" panose="02040503050406030204" pitchFamily="18" charset="0"/>
                <a:ea typeface="Cambria" panose="02040503050406030204" pitchFamily="18" charset="0"/>
              </a:rPr>
              <a:t>Regular expressions are an important notation for specifying patterns.</a:t>
            </a:r>
          </a:p>
          <a:p>
            <a:r>
              <a:rPr lang="en-US" sz="2800" dirty="0" smtClean="0">
                <a:latin typeface="Cambria" panose="02040503050406030204" pitchFamily="18" charset="0"/>
                <a:ea typeface="Cambria" panose="02040503050406030204" pitchFamily="18" charset="0"/>
              </a:rPr>
              <a:t> Regular expression is a grammar. It defines the rule. For the grammar, first we have to define the alphabet</a:t>
            </a:r>
          </a:p>
          <a:p>
            <a:endParaRPr lang="en-US" sz="2800" dirty="0" smtClean="0">
              <a:latin typeface="Cambria" panose="02040503050406030204" pitchFamily="18" charset="0"/>
              <a:ea typeface="Cambria" panose="02040503050406030204" pitchFamily="18" charset="0"/>
            </a:endParaRPr>
          </a:p>
          <a:p>
            <a:endParaRPr lang="en-US" sz="2800" dirty="0" smtClean="0">
              <a:latin typeface="Cambria" panose="02040503050406030204" pitchFamily="18" charset="0"/>
              <a:ea typeface="Cambria" panose="02040503050406030204" pitchFamily="18" charset="0"/>
            </a:endParaRPr>
          </a:p>
        </p:txBody>
      </p:sp>
      <p:sp>
        <p:nvSpPr>
          <p:cNvPr id="9" name="Rectangle 3"/>
          <p:cNvSpPr txBox="1">
            <a:spLocks noChangeArrowheads="1"/>
          </p:cNvSpPr>
          <p:nvPr/>
        </p:nvSpPr>
        <p:spPr>
          <a:xfrm>
            <a:off x="533400" y="3276599"/>
            <a:ext cx="10134600" cy="28559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pitchFamily="28" charset="2"/>
              <a:buNone/>
            </a:pPr>
            <a:r>
              <a:rPr lang="en-US" i="1" dirty="0" smtClean="0">
                <a:solidFill>
                  <a:srgbClr val="FF0000"/>
                </a:solidFill>
              </a:rPr>
              <a:t>An alphabet is a finite, non-empty set of symbols</a:t>
            </a:r>
          </a:p>
          <a:p>
            <a:pPr fontAlgn="auto">
              <a:spcAft>
                <a:spcPts val="0"/>
              </a:spcAft>
            </a:pPr>
            <a:r>
              <a:rPr lang="en-US" dirty="0" smtClean="0"/>
              <a:t>We use the symbol ∑ (sigma) to denote an alphabet</a:t>
            </a:r>
          </a:p>
          <a:p>
            <a:pPr fontAlgn="auto">
              <a:spcAft>
                <a:spcPts val="0"/>
              </a:spcAft>
            </a:pPr>
            <a:r>
              <a:rPr lang="en-US" dirty="0" smtClean="0"/>
              <a:t>Examples:</a:t>
            </a:r>
          </a:p>
          <a:p>
            <a:pPr lvl="1" fontAlgn="auto">
              <a:spcAft>
                <a:spcPts val="0"/>
              </a:spcAft>
            </a:pPr>
            <a:r>
              <a:rPr lang="en-US" dirty="0" smtClean="0"/>
              <a:t>Binary: ∑ = {0,1} </a:t>
            </a:r>
          </a:p>
          <a:p>
            <a:pPr lvl="1" fontAlgn="auto">
              <a:spcAft>
                <a:spcPts val="0"/>
              </a:spcAft>
            </a:pPr>
            <a:r>
              <a:rPr lang="en-US" dirty="0" smtClean="0"/>
              <a:t>All lower case letters: ∑ = {</a:t>
            </a:r>
            <a:r>
              <a:rPr lang="en-US" dirty="0" err="1" smtClean="0"/>
              <a:t>a,b,c,..z</a:t>
            </a:r>
            <a:r>
              <a:rPr lang="en-US" dirty="0" smtClean="0"/>
              <a:t>}</a:t>
            </a:r>
          </a:p>
          <a:p>
            <a:pPr lvl="1" fontAlgn="auto">
              <a:spcAft>
                <a:spcPts val="0"/>
              </a:spcAft>
            </a:pPr>
            <a:r>
              <a:rPr lang="en-US" dirty="0" smtClean="0"/>
              <a:t>digits ∑ = {0-9}</a:t>
            </a:r>
          </a:p>
          <a:p>
            <a:pPr marL="457200" lvl="1" indent="0" fontAlgn="auto">
              <a:spcAft>
                <a:spcPts val="0"/>
              </a:spcAft>
              <a:buNone/>
            </a:pPr>
            <a:endParaRPr lang="en-US" dirty="0" smtClean="0"/>
          </a:p>
        </p:txBody>
      </p:sp>
    </p:spTree>
    <p:extLst>
      <p:ext uri="{BB962C8B-B14F-4D97-AF65-F5344CB8AC3E}">
        <p14:creationId xmlns:p14="http://schemas.microsoft.com/office/powerpoint/2010/main" val="26226591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Regular Expression</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22</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smtClean="0">
              <a:latin typeface="Cambria" panose="02040503050406030204" pitchFamily="18" charset="0"/>
              <a:ea typeface="Cambria" panose="02040503050406030204" pitchFamily="18" charset="0"/>
            </a:endParaRPr>
          </a:p>
        </p:txBody>
      </p:sp>
      <p:sp>
        <p:nvSpPr>
          <p:cNvPr id="9" name="Rectangle 3"/>
          <p:cNvSpPr txBox="1">
            <a:spLocks noChangeArrowheads="1"/>
          </p:cNvSpPr>
          <p:nvPr/>
        </p:nvSpPr>
        <p:spPr>
          <a:xfrm>
            <a:off x="1182688" y="2017713"/>
            <a:ext cx="9713912"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Font typeface="Wingdings" pitchFamily="28" charset="2"/>
              <a:buNone/>
              <a:defRPr/>
            </a:pPr>
            <a:r>
              <a:rPr lang="en-US" i="1" dirty="0" smtClean="0">
                <a:solidFill>
                  <a:srgbClr val="FF0000"/>
                </a:solidFill>
              </a:rPr>
              <a:t>A string or word is a finite sequence of symbols chosen from ∑</a:t>
            </a:r>
          </a:p>
          <a:p>
            <a:pPr fontAlgn="auto">
              <a:spcAft>
                <a:spcPts val="0"/>
              </a:spcAft>
              <a:defRPr/>
            </a:pPr>
            <a:r>
              <a:rPr lang="en-US" b="1" i="1" dirty="0" smtClean="0"/>
              <a:t>Empty string is </a:t>
            </a:r>
            <a:r>
              <a:rPr lang="en-US" b="1" i="1" dirty="0" smtClean="0">
                <a:sym typeface="Symbol" pitchFamily="28" charset="2"/>
              </a:rPr>
              <a:t></a:t>
            </a:r>
            <a:r>
              <a:rPr lang="en-US" b="1" i="1" dirty="0" smtClean="0"/>
              <a:t> (or “epsilon”)</a:t>
            </a:r>
          </a:p>
          <a:p>
            <a:pPr fontAlgn="auto">
              <a:spcAft>
                <a:spcPts val="0"/>
              </a:spcAft>
              <a:defRPr/>
            </a:pPr>
            <a:endParaRPr lang="en-US" dirty="0" smtClean="0"/>
          </a:p>
          <a:p>
            <a:pPr fontAlgn="auto">
              <a:spcAft>
                <a:spcPts val="0"/>
              </a:spcAft>
              <a:defRPr/>
            </a:pPr>
            <a:r>
              <a:rPr lang="en-US" dirty="0" smtClean="0"/>
              <a:t>Length of a string </a:t>
            </a:r>
            <a:r>
              <a:rPr lang="en-US" i="1" dirty="0" smtClean="0"/>
              <a:t>w,</a:t>
            </a:r>
            <a:r>
              <a:rPr lang="en-US" dirty="0" smtClean="0"/>
              <a:t> denoted by “|</a:t>
            </a:r>
            <a:r>
              <a:rPr lang="en-US" i="1" dirty="0" smtClean="0"/>
              <a:t>w</a:t>
            </a:r>
            <a:r>
              <a:rPr lang="en-US" dirty="0" smtClean="0"/>
              <a:t>|”, is equal to the </a:t>
            </a:r>
            <a:r>
              <a:rPr lang="en-US" sz="2400" i="1" dirty="0" smtClean="0"/>
              <a:t>number of (non-</a:t>
            </a:r>
            <a:r>
              <a:rPr lang="en-US" sz="2400" dirty="0" smtClean="0">
                <a:sym typeface="Symbol" pitchFamily="28" charset="2"/>
              </a:rPr>
              <a:t> </a:t>
            </a:r>
            <a:r>
              <a:rPr lang="en-US" sz="2400" i="1" dirty="0" smtClean="0"/>
              <a:t>) characters in the string</a:t>
            </a:r>
          </a:p>
          <a:p>
            <a:pPr lvl="1" fontAlgn="auto">
              <a:spcAft>
                <a:spcPts val="0"/>
              </a:spcAft>
              <a:defRPr/>
            </a:pPr>
            <a:r>
              <a:rPr lang="en-US" sz="2000" i="1" dirty="0" smtClean="0"/>
              <a:t>E.g., x = 010100  			</a:t>
            </a:r>
            <a:r>
              <a:rPr lang="en-US" sz="2000" dirty="0" smtClean="0"/>
              <a:t>|x| = 6</a:t>
            </a:r>
          </a:p>
          <a:p>
            <a:pPr lvl="1" fontAlgn="auto">
              <a:spcAft>
                <a:spcPts val="0"/>
              </a:spcAft>
              <a:defRPr/>
            </a:pPr>
            <a:r>
              <a:rPr lang="en-US" sz="2000" i="1" dirty="0" smtClean="0"/>
              <a:t>x = 01</a:t>
            </a:r>
            <a:r>
              <a:rPr lang="en-US" sz="2000" dirty="0" smtClean="0">
                <a:sym typeface="Symbol" pitchFamily="28" charset="2"/>
              </a:rPr>
              <a:t>  </a:t>
            </a:r>
            <a:r>
              <a:rPr lang="en-US" sz="2000" i="1" dirty="0" smtClean="0"/>
              <a:t>0</a:t>
            </a:r>
            <a:r>
              <a:rPr lang="en-US" sz="2000" dirty="0" smtClean="0">
                <a:sym typeface="Symbol" pitchFamily="28" charset="2"/>
              </a:rPr>
              <a:t>  </a:t>
            </a:r>
            <a:r>
              <a:rPr lang="en-US" sz="2000" i="1" dirty="0" smtClean="0"/>
              <a:t>1</a:t>
            </a:r>
            <a:r>
              <a:rPr lang="en-US" sz="2000" dirty="0" smtClean="0">
                <a:sym typeface="Symbol" pitchFamily="28" charset="2"/>
              </a:rPr>
              <a:t>  </a:t>
            </a:r>
            <a:r>
              <a:rPr lang="en-US" sz="2000" i="1" dirty="0" smtClean="0"/>
              <a:t>00</a:t>
            </a:r>
            <a:r>
              <a:rPr lang="en-US" sz="2000" dirty="0" smtClean="0">
                <a:sym typeface="Symbol" pitchFamily="28" charset="2"/>
              </a:rPr>
              <a:t> 		                </a:t>
            </a:r>
            <a:r>
              <a:rPr lang="en-US" sz="2000" dirty="0" smtClean="0"/>
              <a:t>|x| = ?</a:t>
            </a:r>
          </a:p>
          <a:p>
            <a:pPr marL="342900" lvl="1" indent="-342900" fontAlgn="auto">
              <a:spcAft>
                <a:spcPts val="0"/>
              </a:spcAft>
              <a:buClr>
                <a:schemeClr val="folHlink"/>
              </a:buClr>
              <a:buSzPct val="60000"/>
              <a:defRPr/>
            </a:pPr>
            <a:endParaRPr lang="en-US" i="1" dirty="0" smtClean="0"/>
          </a:p>
          <a:p>
            <a:pPr marL="342900" lvl="1" indent="-342900" fontAlgn="auto">
              <a:spcAft>
                <a:spcPts val="0"/>
              </a:spcAft>
              <a:buClr>
                <a:schemeClr val="folHlink"/>
              </a:buClr>
              <a:buSzPct val="60000"/>
              <a:defRPr/>
            </a:pPr>
            <a:r>
              <a:rPr lang="en-US" i="1" dirty="0" err="1" smtClean="0"/>
              <a:t>xy</a:t>
            </a:r>
            <a:r>
              <a:rPr lang="en-US" i="1" dirty="0" smtClean="0"/>
              <a:t> = </a:t>
            </a:r>
            <a:r>
              <a:rPr lang="en-US" i="1" dirty="0" err="1" smtClean="0"/>
              <a:t>c</a:t>
            </a:r>
            <a:r>
              <a:rPr lang="en-US" dirty="0" err="1" smtClean="0"/>
              <a:t>oncatentation</a:t>
            </a:r>
            <a:r>
              <a:rPr lang="en-US" dirty="0" smtClean="0"/>
              <a:t> of two strings </a:t>
            </a:r>
            <a:r>
              <a:rPr lang="en-US" i="1" dirty="0" smtClean="0"/>
              <a:t>x </a:t>
            </a:r>
            <a:r>
              <a:rPr lang="en-US" dirty="0" smtClean="0"/>
              <a:t>and </a:t>
            </a:r>
            <a:r>
              <a:rPr lang="en-US" i="1" dirty="0" smtClean="0"/>
              <a:t>y </a:t>
            </a:r>
            <a:endParaRPr lang="en-US" dirty="0" smtClean="0"/>
          </a:p>
          <a:p>
            <a:pPr fontAlgn="auto">
              <a:spcAft>
                <a:spcPts val="0"/>
              </a:spcAft>
              <a:defRPr/>
            </a:pPr>
            <a:endParaRPr lang="en-US" sz="2400" i="1" dirty="0" smtClean="0"/>
          </a:p>
        </p:txBody>
      </p:sp>
    </p:spTree>
    <p:extLst>
      <p:ext uri="{BB962C8B-B14F-4D97-AF65-F5344CB8AC3E}">
        <p14:creationId xmlns:p14="http://schemas.microsoft.com/office/powerpoint/2010/main" val="147681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Example of Minimization of DFA</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23</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smtClean="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228600" y="1828800"/>
            <a:ext cx="10591799" cy="4191000"/>
          </a:xfrm>
          <a:prstGeom prst="rect">
            <a:avLst/>
          </a:prstGeom>
        </p:spPr>
      </p:pic>
    </p:spTree>
    <p:extLst>
      <p:ext uri="{BB962C8B-B14F-4D97-AF65-F5344CB8AC3E}">
        <p14:creationId xmlns:p14="http://schemas.microsoft.com/office/powerpoint/2010/main" val="9706783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sz="4000" b="1" dirty="0" smtClean="0">
                <a:latin typeface="Cambria" panose="02040503050406030204" pitchFamily="18" charset="0"/>
                <a:ea typeface="Cambria" panose="02040503050406030204" pitchFamily="18" charset="0"/>
              </a:rPr>
              <a:t>Transition diagram for Different types of Tokens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24</a:t>
            </a:fld>
            <a:endParaRPr lang="en-US" altLang="en-US" dirty="0"/>
          </a:p>
        </p:txBody>
      </p:sp>
      <p:sp>
        <p:nvSpPr>
          <p:cNvPr id="6" name="Rectangle 5"/>
          <p:cNvSpPr/>
          <p:nvPr/>
        </p:nvSpPr>
        <p:spPr>
          <a:xfrm>
            <a:off x="228600" y="1598615"/>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514350" indent="-514350">
              <a:buFont typeface="+mj-lt"/>
              <a:buAutoNum type="arabicPeriod"/>
            </a:pPr>
            <a:r>
              <a:rPr lang="en-US" sz="2800" dirty="0" smtClean="0">
                <a:latin typeface="Cambria" panose="02040503050406030204" pitchFamily="18" charset="0"/>
                <a:ea typeface="Cambria" panose="02040503050406030204" pitchFamily="18" charset="0"/>
              </a:rPr>
              <a:t>Identifiers:</a:t>
            </a:r>
          </a:p>
          <a:p>
            <a:pPr marL="514350" indent="-514350">
              <a:buFont typeface="+mj-lt"/>
              <a:buAutoNum type="arabicPeriod"/>
            </a:pPr>
            <a:endParaRPr lang="en-US" sz="2800" dirty="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a:latin typeface="Cambria" panose="02040503050406030204" pitchFamily="18" charset="0"/>
              <a:ea typeface="Cambria" panose="02040503050406030204" pitchFamily="18" charset="0"/>
            </a:endParaRPr>
          </a:p>
          <a:p>
            <a:pPr marL="514350" indent="-514350">
              <a:buFont typeface="+mj-lt"/>
              <a:buAutoNum type="arabicPeriod"/>
            </a:pPr>
            <a:r>
              <a:rPr lang="en-US" sz="2800" dirty="0" smtClean="0">
                <a:latin typeface="Cambria" panose="02040503050406030204" pitchFamily="18" charset="0"/>
                <a:ea typeface="Cambria" panose="02040503050406030204" pitchFamily="18" charset="0"/>
              </a:rPr>
              <a:t>Relational Operator</a:t>
            </a: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         </a:t>
            </a:r>
          </a:p>
        </p:txBody>
      </p:sp>
      <p:pic>
        <p:nvPicPr>
          <p:cNvPr id="5" name="Picture 4"/>
          <p:cNvPicPr>
            <a:picLocks noChangeAspect="1"/>
          </p:cNvPicPr>
          <p:nvPr/>
        </p:nvPicPr>
        <p:blipFill>
          <a:blip r:embed="rId2"/>
          <a:stretch>
            <a:fillRect/>
          </a:stretch>
        </p:blipFill>
        <p:spPr>
          <a:xfrm>
            <a:off x="2133600" y="2209800"/>
            <a:ext cx="6172200" cy="1219200"/>
          </a:xfrm>
          <a:prstGeom prst="rect">
            <a:avLst/>
          </a:prstGeom>
        </p:spPr>
      </p:pic>
      <p:pic>
        <p:nvPicPr>
          <p:cNvPr id="7" name="Picture 6"/>
          <p:cNvPicPr>
            <a:picLocks noChangeAspect="1"/>
          </p:cNvPicPr>
          <p:nvPr/>
        </p:nvPicPr>
        <p:blipFill>
          <a:blip r:embed="rId3"/>
          <a:stretch>
            <a:fillRect/>
          </a:stretch>
        </p:blipFill>
        <p:spPr>
          <a:xfrm>
            <a:off x="2590800" y="3886201"/>
            <a:ext cx="6934200" cy="2470150"/>
          </a:xfrm>
          <a:prstGeom prst="rect">
            <a:avLst/>
          </a:prstGeom>
        </p:spPr>
      </p:pic>
    </p:spTree>
    <p:extLst>
      <p:ext uri="{BB962C8B-B14F-4D97-AF65-F5344CB8AC3E}">
        <p14:creationId xmlns:p14="http://schemas.microsoft.com/office/powerpoint/2010/main" val="3498067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sz="4000" b="1" dirty="0" smtClean="0">
                <a:latin typeface="Cambria" panose="02040503050406030204" pitchFamily="18" charset="0"/>
                <a:ea typeface="Cambria" panose="02040503050406030204" pitchFamily="18" charset="0"/>
              </a:rPr>
              <a:t>Transition diagram for Different types of Tokens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25</a:t>
            </a:fld>
            <a:endParaRPr lang="en-US" altLang="en-US" dirty="0"/>
          </a:p>
        </p:txBody>
      </p:sp>
      <p:sp>
        <p:nvSpPr>
          <p:cNvPr id="6" name="Rectangle 5"/>
          <p:cNvSpPr/>
          <p:nvPr/>
        </p:nvSpPr>
        <p:spPr>
          <a:xfrm>
            <a:off x="381000" y="1619396"/>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r>
              <a:rPr lang="en-US" sz="2800" dirty="0" smtClean="0">
                <a:latin typeface="Cambria" panose="02040503050406030204" pitchFamily="18" charset="0"/>
                <a:ea typeface="Cambria" panose="02040503050406030204" pitchFamily="18" charset="0"/>
              </a:rPr>
              <a:t>3.   Keyword</a:t>
            </a:r>
          </a:p>
          <a:p>
            <a:pPr marL="514350" indent="-514350">
              <a:buFont typeface="+mj-lt"/>
              <a:buAutoNum type="arabicPeriod"/>
            </a:pPr>
            <a:endParaRPr lang="en-US" sz="2800" dirty="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a:latin typeface="Cambria" panose="02040503050406030204" pitchFamily="18" charset="0"/>
              <a:ea typeface="Cambria" panose="02040503050406030204" pitchFamily="18" charset="0"/>
            </a:endParaRPr>
          </a:p>
          <a:p>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         </a:t>
            </a:r>
          </a:p>
        </p:txBody>
      </p:sp>
      <p:pic>
        <p:nvPicPr>
          <p:cNvPr id="3" name="Picture 2"/>
          <p:cNvPicPr>
            <a:picLocks noChangeAspect="1"/>
          </p:cNvPicPr>
          <p:nvPr/>
        </p:nvPicPr>
        <p:blipFill>
          <a:blip r:embed="rId2"/>
          <a:stretch>
            <a:fillRect/>
          </a:stretch>
        </p:blipFill>
        <p:spPr>
          <a:xfrm>
            <a:off x="2743200" y="1981200"/>
            <a:ext cx="4991100" cy="1066800"/>
          </a:xfrm>
          <a:prstGeom prst="rect">
            <a:avLst/>
          </a:prstGeom>
        </p:spPr>
      </p:pic>
    </p:spTree>
    <p:extLst>
      <p:ext uri="{BB962C8B-B14F-4D97-AF65-F5344CB8AC3E}">
        <p14:creationId xmlns:p14="http://schemas.microsoft.com/office/powerpoint/2010/main" val="39284948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Introduction of Lexical Analysis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26</a:t>
            </a:fld>
            <a:endParaRPr lang="en-US" altLang="en-US" dirty="0"/>
          </a:p>
        </p:txBody>
      </p:sp>
      <p:sp>
        <p:nvSpPr>
          <p:cNvPr id="6" name="Rectangle 5"/>
          <p:cNvSpPr/>
          <p:nvPr/>
        </p:nvSpPr>
        <p:spPr>
          <a:xfrm>
            <a:off x="381000" y="1619396"/>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a:latin typeface="Cambria" panose="02040503050406030204" pitchFamily="18" charset="0"/>
              <a:ea typeface="Cambria" panose="02040503050406030204" pitchFamily="18" charset="0"/>
            </a:endParaRPr>
          </a:p>
          <a:p>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         </a:t>
            </a:r>
          </a:p>
        </p:txBody>
      </p:sp>
      <p:sp>
        <p:nvSpPr>
          <p:cNvPr id="7" name="Content Placeholder 2"/>
          <p:cNvSpPr>
            <a:spLocks noGrp="1"/>
          </p:cNvSpPr>
          <p:nvPr>
            <p:ph idx="1"/>
          </p:nvPr>
        </p:nvSpPr>
        <p:spPr bwMode="auto">
          <a:xfrm>
            <a:off x="838200" y="1833707"/>
            <a:ext cx="80772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buFontTx/>
              <a:buNone/>
            </a:pPr>
            <a:r>
              <a:rPr lang="en-US" altLang="en-US" b="1" dirty="0" smtClean="0"/>
              <a:t>Example 1:</a:t>
            </a:r>
          </a:p>
          <a:p>
            <a:pPr marL="0" indent="0">
              <a:buFontTx/>
              <a:buNone/>
            </a:pPr>
            <a:endParaRPr lang="en-US" altLang="en-US" b="1" dirty="0" smtClean="0"/>
          </a:p>
          <a:p>
            <a:pPr marL="0" indent="0">
              <a:buFontTx/>
              <a:buNone/>
            </a:pPr>
            <a:endParaRPr lang="en-US" altLang="en-US" b="1" dirty="0" smtClean="0"/>
          </a:p>
          <a:p>
            <a:pPr marL="0" indent="0">
              <a:buFontTx/>
              <a:buNone/>
            </a:pPr>
            <a:endParaRPr lang="en-US" altLang="en-US" b="1" dirty="0" smtClean="0"/>
          </a:p>
          <a:p>
            <a:pPr marL="0" indent="0">
              <a:buFontTx/>
              <a:buNone/>
            </a:pPr>
            <a:endParaRPr lang="en-US" altLang="en-US" b="1" dirty="0" smtClean="0"/>
          </a:p>
          <a:p>
            <a:pPr marL="0" indent="0">
              <a:buFontTx/>
              <a:buNone/>
            </a:pPr>
            <a:endParaRPr lang="en-US" altLang="en-US" b="1" dirty="0" smtClean="0"/>
          </a:p>
          <a:p>
            <a:pPr marL="0" indent="0">
              <a:buFontTx/>
              <a:buNone/>
            </a:pPr>
            <a:r>
              <a:rPr lang="en-US" altLang="en-US" b="1" dirty="0" smtClean="0"/>
              <a:t>Valid Tokens: </a:t>
            </a:r>
            <a:r>
              <a:rPr lang="en-US" altLang="en-US" dirty="0" smtClean="0"/>
              <a:t>'</a:t>
            </a:r>
            <a:r>
              <a:rPr lang="en-US" altLang="en-US" dirty="0" err="1" smtClean="0"/>
              <a:t>int</a:t>
            </a:r>
            <a:r>
              <a:rPr lang="en-US" altLang="en-US" dirty="0" smtClean="0"/>
              <a:t>' 'main' '(' ')' '{' '</a:t>
            </a:r>
            <a:r>
              <a:rPr lang="en-US" altLang="en-US" dirty="0" err="1" smtClean="0"/>
              <a:t>int</a:t>
            </a:r>
            <a:r>
              <a:rPr lang="en-US" altLang="en-US" dirty="0" smtClean="0"/>
              <a:t>' 'a' ',' 'b' ';' 'a' '=' '10' ';' 'return' '0' ';' '}'</a:t>
            </a:r>
            <a:r>
              <a:rPr lang="en-US" altLang="en-US" b="1" dirty="0" smtClean="0"/>
              <a:t> </a:t>
            </a:r>
          </a:p>
          <a:p>
            <a:pPr marL="0" indent="0">
              <a:buFontTx/>
              <a:buNone/>
            </a:pPr>
            <a:endParaRPr lang="en-US" altLang="en-US" dirty="0" smtClean="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l="2107" t="36253" r="87349" b="42496"/>
          <a:stretch>
            <a:fillRect/>
          </a:stretch>
        </p:blipFill>
        <p:spPr bwMode="auto">
          <a:xfrm>
            <a:off x="3416300" y="1719408"/>
            <a:ext cx="27559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586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Introduction of Lexical Analysis</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27</a:t>
            </a:fld>
            <a:endParaRPr lang="en-US" altLang="en-US" dirty="0"/>
          </a:p>
        </p:txBody>
      </p:sp>
      <p:sp>
        <p:nvSpPr>
          <p:cNvPr id="6" name="Rectangle 5"/>
          <p:cNvSpPr/>
          <p:nvPr/>
        </p:nvSpPr>
        <p:spPr>
          <a:xfrm>
            <a:off x="381000" y="1619396"/>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endParaRPr lang="en-US" sz="2800" dirty="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a:latin typeface="Cambria" panose="02040503050406030204" pitchFamily="18" charset="0"/>
              <a:ea typeface="Cambria" panose="02040503050406030204" pitchFamily="18" charset="0"/>
            </a:endParaRPr>
          </a:p>
          <a:p>
            <a:endParaRPr lang="en-US" sz="2800" dirty="0" smtClean="0">
              <a:latin typeface="Cambria" panose="02040503050406030204" pitchFamily="18" charset="0"/>
              <a:ea typeface="Cambria" panose="02040503050406030204" pitchFamily="18" charset="0"/>
            </a:endParaRPr>
          </a:p>
          <a:p>
            <a:pPr marL="514350" indent="-514350">
              <a:buFont typeface="+mj-lt"/>
              <a:buAutoNum type="arabicPeriod"/>
            </a:pPr>
            <a:endParaRPr lang="en-US" sz="2800" dirty="0" smtClean="0">
              <a:latin typeface="Cambria" panose="02040503050406030204" pitchFamily="18" charset="0"/>
              <a:ea typeface="Cambria" panose="02040503050406030204" pitchFamily="18" charset="0"/>
            </a:endParaRPr>
          </a:p>
          <a:p>
            <a:endParaRPr lang="en-US" sz="2800" dirty="0">
              <a:latin typeface="Cambria" panose="02040503050406030204" pitchFamily="18" charset="0"/>
              <a:ea typeface="Cambria" panose="02040503050406030204" pitchFamily="18" charset="0"/>
            </a:endParaRPr>
          </a:p>
          <a:p>
            <a:r>
              <a:rPr lang="en-US" sz="2800" dirty="0" smtClean="0">
                <a:latin typeface="Cambria" panose="02040503050406030204" pitchFamily="18" charset="0"/>
                <a:ea typeface="Cambria" panose="02040503050406030204" pitchFamily="18" charset="0"/>
              </a:rPr>
              <a:t>         </a:t>
            </a:r>
          </a:p>
        </p:txBody>
      </p:sp>
      <p:sp>
        <p:nvSpPr>
          <p:cNvPr id="5" name="Rectangle 4"/>
          <p:cNvSpPr/>
          <p:nvPr/>
        </p:nvSpPr>
        <p:spPr>
          <a:xfrm>
            <a:off x="533400" y="1859340"/>
            <a:ext cx="10668000" cy="3693319"/>
          </a:xfrm>
          <a:prstGeom prst="rect">
            <a:avLst/>
          </a:prstGeom>
        </p:spPr>
        <p:txBody>
          <a:bodyPr wrap="square">
            <a:spAutoFit/>
          </a:bodyPr>
          <a:lstStyle/>
          <a:p>
            <a:pPr marL="0" indent="0">
              <a:buFontTx/>
              <a:buNone/>
              <a:defRPr/>
            </a:pPr>
            <a:r>
              <a:rPr lang="en-US" sz="2400" b="1" dirty="0">
                <a:latin typeface="Cambria" panose="02040503050406030204" pitchFamily="18" charset="0"/>
                <a:ea typeface="Cambria" panose="02040503050406030204" pitchFamily="18" charset="0"/>
              </a:rPr>
              <a:t>Example 2</a:t>
            </a:r>
            <a:r>
              <a:rPr lang="en-US" sz="2400" b="1" dirty="0" smtClean="0">
                <a:latin typeface="Cambria" panose="02040503050406030204" pitchFamily="18" charset="0"/>
                <a:ea typeface="Cambria" panose="02040503050406030204" pitchFamily="18" charset="0"/>
              </a:rPr>
              <a:t>: </a:t>
            </a:r>
            <a:endParaRPr lang="en-US" sz="2400" b="1" dirty="0">
              <a:latin typeface="Cambria" panose="02040503050406030204" pitchFamily="18" charset="0"/>
              <a:ea typeface="Cambria" panose="02040503050406030204" pitchFamily="18" charset="0"/>
            </a:endParaRPr>
          </a:p>
          <a:p>
            <a:pPr marL="0" indent="0">
              <a:buFontTx/>
              <a:buNone/>
              <a:defRPr/>
            </a:pPr>
            <a:endParaRPr lang="en-US" sz="2400" b="1" dirty="0">
              <a:latin typeface="Cambria" panose="02040503050406030204" pitchFamily="18" charset="0"/>
              <a:ea typeface="Cambria" panose="02040503050406030204" pitchFamily="18" charset="0"/>
            </a:endParaRPr>
          </a:p>
          <a:p>
            <a:pPr marL="0" indent="0">
              <a:buFontTx/>
              <a:buNone/>
              <a:defRPr/>
            </a:pPr>
            <a:endParaRPr lang="en-US" sz="2400" b="1" dirty="0" smtClean="0">
              <a:latin typeface="Cambria" panose="02040503050406030204" pitchFamily="18" charset="0"/>
              <a:ea typeface="Cambria" panose="02040503050406030204" pitchFamily="18" charset="0"/>
            </a:endParaRPr>
          </a:p>
          <a:p>
            <a:pPr marL="0" indent="0">
              <a:buFontTx/>
              <a:buNone/>
              <a:defRPr/>
            </a:pPr>
            <a:endParaRPr lang="en-US" sz="2400" b="1" dirty="0">
              <a:latin typeface="Cambria" panose="02040503050406030204" pitchFamily="18" charset="0"/>
              <a:ea typeface="Cambria" panose="02040503050406030204" pitchFamily="18" charset="0"/>
            </a:endParaRPr>
          </a:p>
          <a:p>
            <a:pPr marL="0" indent="0">
              <a:buFontTx/>
              <a:buNone/>
              <a:defRPr/>
            </a:pPr>
            <a:r>
              <a:rPr lang="en-US" sz="2400" b="1" dirty="0" smtClean="0">
                <a:latin typeface="Cambria" panose="02040503050406030204" pitchFamily="18" charset="0"/>
                <a:ea typeface="Cambria" panose="02040503050406030204" pitchFamily="18" charset="0"/>
              </a:rPr>
              <a:t>Example </a:t>
            </a:r>
            <a:r>
              <a:rPr lang="en-US" sz="2400" b="1" dirty="0">
                <a:latin typeface="Cambria" panose="02040503050406030204" pitchFamily="18" charset="0"/>
                <a:ea typeface="Cambria" panose="02040503050406030204" pitchFamily="18" charset="0"/>
              </a:rPr>
              <a:t>3: </a:t>
            </a:r>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max(</a:t>
            </a:r>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i</a:t>
            </a:r>
            <a:r>
              <a:rPr lang="en-US" sz="2400" dirty="0">
                <a:latin typeface="Cambria" panose="02040503050406030204" pitchFamily="18" charset="0"/>
                <a:ea typeface="Cambria" panose="02040503050406030204" pitchFamily="18" charset="0"/>
              </a:rPr>
              <a:t>);</a:t>
            </a:r>
          </a:p>
          <a:p>
            <a:pPr marL="342900" indent="-342900">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Lexical analyzer first read </a:t>
            </a:r>
            <a:r>
              <a:rPr lang="en-US" sz="2400" b="1"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and finds it to be valid and accepts as token</a:t>
            </a:r>
          </a:p>
          <a:p>
            <a:pPr marL="342900" indent="-342900">
              <a:buFont typeface="Arial" panose="020B0604020202020204" pitchFamily="34" charset="0"/>
              <a:buChar char="•"/>
              <a:defRPr/>
            </a:pPr>
            <a:r>
              <a:rPr lang="en-US" sz="2400" b="1" dirty="0">
                <a:latin typeface="Cambria" panose="02040503050406030204" pitchFamily="18" charset="0"/>
                <a:ea typeface="Cambria" panose="02040503050406030204" pitchFamily="18" charset="0"/>
              </a:rPr>
              <a:t>max</a:t>
            </a:r>
            <a:r>
              <a:rPr lang="en-US" sz="2400" dirty="0">
                <a:latin typeface="Cambria" panose="02040503050406030204" pitchFamily="18" charset="0"/>
                <a:ea typeface="Cambria" panose="02040503050406030204" pitchFamily="18" charset="0"/>
              </a:rPr>
              <a:t> is read by it and found to be a valid function name after reading</a:t>
            </a:r>
            <a:r>
              <a:rPr lang="en-US" sz="2400" b="1" dirty="0">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defRPr/>
            </a:pPr>
            <a:r>
              <a:rPr lang="en-US" sz="2400" b="1"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is also a token , then again</a:t>
            </a:r>
            <a:r>
              <a:rPr lang="en-US" sz="2400" b="1" dirty="0">
                <a:latin typeface="Cambria" panose="02040503050406030204" pitchFamily="18" charset="0"/>
                <a:ea typeface="Cambria" panose="02040503050406030204" pitchFamily="18" charset="0"/>
              </a:rPr>
              <a:t> </a:t>
            </a:r>
            <a:r>
              <a:rPr lang="en-US" sz="2400" b="1" dirty="0" err="1">
                <a:latin typeface="Cambria" panose="02040503050406030204" pitchFamily="18" charset="0"/>
                <a:ea typeface="Cambria" panose="02040503050406030204" pitchFamily="18" charset="0"/>
              </a:rPr>
              <a:t>i</a:t>
            </a:r>
            <a:r>
              <a:rPr lang="en-US" sz="2400" dirty="0">
                <a:latin typeface="Cambria" panose="02040503050406030204" pitchFamily="18" charset="0"/>
                <a:ea typeface="Cambria" panose="02040503050406030204" pitchFamily="18" charset="0"/>
              </a:rPr>
              <a:t> as another token and finally </a:t>
            </a:r>
            <a:r>
              <a:rPr lang="en-US" sz="2400" b="1" dirty="0">
                <a:latin typeface="Cambria" panose="02040503050406030204" pitchFamily="18" charset="0"/>
                <a:ea typeface="Cambria" panose="02040503050406030204" pitchFamily="18" charset="0"/>
              </a:rPr>
              <a:t>;</a:t>
            </a:r>
            <a:endParaRPr lang="en-US" sz="2400" dirty="0">
              <a:latin typeface="Cambria" panose="02040503050406030204" pitchFamily="18" charset="0"/>
              <a:ea typeface="Cambria" panose="02040503050406030204" pitchFamily="18" charset="0"/>
            </a:endParaRPr>
          </a:p>
          <a:p>
            <a:pPr marL="0" indent="0">
              <a:buFontTx/>
              <a:buNone/>
              <a:defRPr/>
            </a:pPr>
            <a:r>
              <a:rPr lang="en-US" sz="2400" b="1" dirty="0">
                <a:latin typeface="Cambria" panose="02040503050406030204" pitchFamily="18" charset="0"/>
                <a:ea typeface="Cambria" panose="02040503050406030204" pitchFamily="18" charset="0"/>
              </a:rPr>
              <a:t>Answer: </a:t>
            </a:r>
            <a:r>
              <a:rPr lang="en-US" sz="2400" dirty="0">
                <a:latin typeface="Cambria" panose="02040503050406030204" pitchFamily="18" charset="0"/>
                <a:ea typeface="Cambria" panose="02040503050406030204" pitchFamily="18" charset="0"/>
              </a:rPr>
              <a:t>Total number of tokens 7: </a:t>
            </a:r>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max, ( ,</a:t>
            </a:r>
            <a:r>
              <a:rPr lang="en-US" sz="2400" dirty="0" err="1">
                <a:latin typeface="Cambria" panose="02040503050406030204" pitchFamily="18" charset="0"/>
                <a:ea typeface="Cambria" panose="02040503050406030204" pitchFamily="18" charset="0"/>
              </a:rPr>
              <a:t>int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i</a:t>
            </a:r>
            <a:r>
              <a:rPr lang="en-US" sz="2400" dirty="0">
                <a:latin typeface="Cambria" panose="02040503050406030204" pitchFamily="18" charset="0"/>
                <a:ea typeface="Cambria" panose="02040503050406030204" pitchFamily="18" charset="0"/>
              </a:rPr>
              <a:t>, ), ;</a:t>
            </a:r>
            <a:endParaRPr lang="en-US" sz="2400" b="1" dirty="0">
              <a:latin typeface="Cambria" panose="02040503050406030204" pitchFamily="18" charset="0"/>
              <a:ea typeface="Cambria" panose="02040503050406030204" pitchFamily="18" charset="0"/>
            </a:endParaRPr>
          </a:p>
          <a:p>
            <a:pPr marL="0" indent="0">
              <a:buFontTx/>
              <a:buNone/>
              <a:defRPr/>
            </a:pPr>
            <a:endParaRPr lang="en-US" b="1" dirty="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l="22501" t="36253" r="56413" b="48746"/>
          <a:stretch>
            <a:fillRect/>
          </a:stretch>
        </p:blipFill>
        <p:spPr bwMode="auto">
          <a:xfrm>
            <a:off x="2514600" y="1711847"/>
            <a:ext cx="27432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4"/>
          <p:cNvSpPr>
            <a:spLocks noChangeArrowheads="1"/>
          </p:cNvSpPr>
          <p:nvPr/>
        </p:nvSpPr>
        <p:spPr bwMode="auto">
          <a:xfrm>
            <a:off x="5562600" y="1937271"/>
            <a:ext cx="3962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dirty="0">
                <a:sym typeface="Wingdings" panose="05000000000000000000" pitchFamily="2" charset="2"/>
              </a:rPr>
              <a:t> </a:t>
            </a:r>
            <a:r>
              <a:rPr lang="en-US" altLang="en-US" dirty="0"/>
              <a:t>There are 5 valid token in this </a:t>
            </a:r>
            <a:r>
              <a:rPr lang="en-US" altLang="en-US" dirty="0" err="1"/>
              <a:t>printf</a:t>
            </a:r>
            <a:r>
              <a:rPr lang="en-US" altLang="en-US" dirty="0"/>
              <a:t> statement.</a:t>
            </a:r>
          </a:p>
        </p:txBody>
      </p:sp>
    </p:spTree>
    <p:extLst>
      <p:ext uri="{BB962C8B-B14F-4D97-AF65-F5344CB8AC3E}">
        <p14:creationId xmlns:p14="http://schemas.microsoft.com/office/powerpoint/2010/main" val="139392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Scanning the Input</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28</a:t>
            </a:fld>
            <a:endParaRPr lang="en-US" altLang="en-US" dirty="0"/>
          </a:p>
        </p:txBody>
      </p:sp>
      <p:sp>
        <p:nvSpPr>
          <p:cNvPr id="6" name="Rectangle 5"/>
          <p:cNvSpPr/>
          <p:nvPr/>
        </p:nvSpPr>
        <p:spPr>
          <a:xfrm>
            <a:off x="381000" y="1619396"/>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r>
              <a:rPr lang="en-US" altLang="en-US" sz="2400" dirty="0">
                <a:latin typeface="Cambria" panose="02040503050406030204" pitchFamily="18" charset="0"/>
                <a:ea typeface="Cambria" panose="02040503050406030204" pitchFamily="18" charset="0"/>
              </a:rPr>
              <a:t>The lexical analyzer scans the input from left to right one character at a time</a:t>
            </a:r>
            <a:r>
              <a:rPr lang="en-US" altLang="en-US" sz="2400" dirty="0" smtClean="0">
                <a:latin typeface="Cambria" panose="02040503050406030204" pitchFamily="18" charset="0"/>
                <a:ea typeface="Cambria" panose="02040503050406030204" pitchFamily="18" charset="0"/>
              </a:rPr>
              <a:t>.</a:t>
            </a:r>
          </a:p>
          <a:p>
            <a:pPr algn="just"/>
            <a:r>
              <a:rPr lang="en-US" altLang="en-US" sz="2400" dirty="0">
                <a:latin typeface="Cambria" panose="02040503050406030204" pitchFamily="18" charset="0"/>
                <a:ea typeface="Cambria" panose="02040503050406030204" pitchFamily="18" charset="0"/>
              </a:rPr>
              <a:t>It uses two pointers </a:t>
            </a:r>
            <a:endParaRPr lang="en-US" altLang="en-US" sz="2400"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US" altLang="en-US" sz="2400" dirty="0" smtClean="0">
                <a:latin typeface="Cambria" panose="02040503050406030204" pitchFamily="18" charset="0"/>
                <a:ea typeface="Cambria" panose="02040503050406030204" pitchFamily="18" charset="0"/>
              </a:rPr>
              <a:t>begin </a:t>
            </a:r>
            <a:r>
              <a:rPr lang="en-US" altLang="en-US" sz="2400" dirty="0" err="1">
                <a:latin typeface="Cambria" panose="02040503050406030204" pitchFamily="18" charset="0"/>
                <a:ea typeface="Cambria" panose="02040503050406030204" pitchFamily="18" charset="0"/>
              </a:rPr>
              <a:t>ptr</a:t>
            </a:r>
            <a:r>
              <a:rPr lang="en-US" altLang="en-US" sz="2400" dirty="0">
                <a:latin typeface="Cambria" panose="02040503050406030204" pitchFamily="18" charset="0"/>
                <a:ea typeface="Cambria" panose="02040503050406030204" pitchFamily="18" charset="0"/>
              </a:rPr>
              <a:t>(</a:t>
            </a:r>
            <a:r>
              <a:rPr lang="en-US" altLang="en-US" sz="2400" dirty="0" err="1">
                <a:latin typeface="Cambria" panose="02040503050406030204" pitchFamily="18" charset="0"/>
                <a:ea typeface="Cambria" panose="02040503050406030204" pitchFamily="18" charset="0"/>
              </a:rPr>
              <a:t>bp</a:t>
            </a:r>
            <a:r>
              <a:rPr lang="en-US" altLang="en-US" sz="2400" dirty="0" smtClean="0">
                <a:latin typeface="Cambria" panose="02040503050406030204" pitchFamily="18" charset="0"/>
                <a:ea typeface="Cambria" panose="02040503050406030204" pitchFamily="18" charset="0"/>
              </a:rPr>
              <a:t>):lexeme begin pointer </a:t>
            </a:r>
            <a:r>
              <a:rPr lang="en-US" altLang="en-US" sz="2400" dirty="0">
                <a:latin typeface="Cambria" panose="02040503050406030204" pitchFamily="18" charset="0"/>
                <a:ea typeface="Cambria" panose="02040503050406030204" pitchFamily="18" charset="0"/>
              </a:rPr>
              <a:t>and </a:t>
            </a:r>
            <a:endParaRPr lang="en-US" altLang="en-US" sz="2400"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US" altLang="en-US" sz="2400" dirty="0" smtClean="0">
                <a:latin typeface="Cambria" panose="02040503050406030204" pitchFamily="18" charset="0"/>
                <a:ea typeface="Cambria" panose="02040503050406030204" pitchFamily="18" charset="0"/>
              </a:rPr>
              <a:t>forward </a:t>
            </a:r>
            <a:r>
              <a:rPr lang="en-US" altLang="en-US" sz="2400" dirty="0" err="1" smtClean="0">
                <a:latin typeface="Cambria" panose="02040503050406030204" pitchFamily="18" charset="0"/>
                <a:ea typeface="Cambria" panose="02040503050406030204" pitchFamily="18" charset="0"/>
              </a:rPr>
              <a:t>ptr</a:t>
            </a:r>
            <a:r>
              <a:rPr lang="en-US" altLang="en-US" sz="2400" dirty="0" smtClean="0">
                <a:latin typeface="Cambria" panose="02040503050406030204" pitchFamily="18" charset="0"/>
                <a:ea typeface="Cambria" panose="02040503050406030204" pitchFamily="18" charset="0"/>
              </a:rPr>
              <a:t>(</a:t>
            </a:r>
            <a:r>
              <a:rPr lang="en-US" altLang="en-US" sz="2400" dirty="0" err="1" smtClean="0">
                <a:latin typeface="Cambria" panose="02040503050406030204" pitchFamily="18" charset="0"/>
                <a:ea typeface="Cambria" panose="02040503050406030204" pitchFamily="18" charset="0"/>
              </a:rPr>
              <a:t>fp</a:t>
            </a:r>
            <a:r>
              <a:rPr lang="en-US" altLang="en-US" sz="2400" dirty="0" smtClean="0">
                <a:latin typeface="Cambria" panose="02040503050406030204" pitchFamily="18" charset="0"/>
                <a:ea typeface="Cambria" panose="02040503050406030204" pitchFamily="18" charset="0"/>
              </a:rPr>
              <a:t>) to </a:t>
            </a:r>
            <a:r>
              <a:rPr lang="en-US" altLang="en-US" sz="2400" dirty="0">
                <a:latin typeface="Cambria" panose="02040503050406030204" pitchFamily="18" charset="0"/>
                <a:ea typeface="Cambria" panose="02040503050406030204" pitchFamily="18" charset="0"/>
              </a:rPr>
              <a:t>keep track of the pointer of the input scanned</a:t>
            </a:r>
            <a:r>
              <a:rPr lang="en-US" altLang="en-US" sz="2400" dirty="0" smtClean="0">
                <a:latin typeface="Cambria" panose="02040503050406030204" pitchFamily="18" charset="0"/>
                <a:ea typeface="Cambria" panose="02040503050406030204" pitchFamily="18" charset="0"/>
              </a:rPr>
              <a:t>.</a:t>
            </a:r>
          </a:p>
          <a:p>
            <a:pPr algn="just"/>
            <a:r>
              <a:rPr lang="en-US" altLang="en-US" sz="2400" dirty="0">
                <a:latin typeface="Cambria" panose="02040503050406030204" pitchFamily="18" charset="0"/>
                <a:ea typeface="Cambria" panose="02040503050406030204" pitchFamily="18" charset="0"/>
              </a:rPr>
              <a:t>Initially both the pointers point to the first character of the input </a:t>
            </a:r>
            <a:r>
              <a:rPr lang="en-US" altLang="en-US" sz="2400" dirty="0" smtClean="0">
                <a:latin typeface="Cambria" panose="02040503050406030204" pitchFamily="18" charset="0"/>
                <a:ea typeface="Cambria" panose="02040503050406030204" pitchFamily="18" charset="0"/>
              </a:rPr>
              <a:t>string</a:t>
            </a:r>
          </a:p>
          <a:p>
            <a:pPr algn="just"/>
            <a:endParaRPr lang="en-US" altLang="en-US" sz="2400" dirty="0">
              <a:latin typeface="Cambria" panose="02040503050406030204" pitchFamily="18" charset="0"/>
              <a:ea typeface="Cambria" panose="02040503050406030204" pitchFamily="18" charset="0"/>
            </a:endParaRPr>
          </a:p>
          <a:p>
            <a:pPr algn="just"/>
            <a:r>
              <a:rPr lang="en-US" altLang="en-US" sz="2400" dirty="0" smtClean="0">
                <a:latin typeface="Cambria" panose="02040503050406030204" pitchFamily="18" charset="0"/>
                <a:ea typeface="Cambria" panose="02040503050406030204" pitchFamily="18" charset="0"/>
              </a:rPr>
              <a:t> This reading of characters from secondary storage is very costly. Hence </a:t>
            </a:r>
            <a:r>
              <a:rPr lang="en-US" altLang="en-US" sz="2400" dirty="0">
                <a:latin typeface="Cambria" panose="02040503050406030204" pitchFamily="18" charset="0"/>
                <a:ea typeface="Cambria" panose="02040503050406030204" pitchFamily="18" charset="0"/>
              </a:rPr>
              <a:t>buffering technique is used</a:t>
            </a:r>
            <a:r>
              <a:rPr lang="en-US" altLang="en-US" sz="2400" dirty="0" smtClean="0">
                <a:latin typeface="Cambria" panose="02040503050406030204" pitchFamily="18" charset="0"/>
                <a:ea typeface="Cambria" panose="02040503050406030204" pitchFamily="18" charset="0"/>
              </a:rPr>
              <a:t>. A </a:t>
            </a:r>
            <a:r>
              <a:rPr lang="en-US" altLang="en-US" sz="2400" dirty="0">
                <a:latin typeface="Cambria" panose="02040503050406030204" pitchFamily="18" charset="0"/>
                <a:ea typeface="Cambria" panose="02040503050406030204" pitchFamily="18" charset="0"/>
              </a:rPr>
              <a:t>block of data is first read into a buffer, and then second by lexical analyzer. there are two methods used in this context: </a:t>
            </a:r>
            <a:endParaRPr lang="en-US" altLang="en-US" sz="2400"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US" altLang="en-US" sz="2400" dirty="0" smtClean="0">
                <a:latin typeface="Cambria" panose="02040503050406030204" pitchFamily="18" charset="0"/>
                <a:ea typeface="Cambria" panose="02040503050406030204" pitchFamily="18" charset="0"/>
              </a:rPr>
              <a:t>One </a:t>
            </a:r>
            <a:r>
              <a:rPr lang="en-US" altLang="en-US" sz="2400" dirty="0">
                <a:latin typeface="Cambria" panose="02040503050406030204" pitchFamily="18" charset="0"/>
                <a:ea typeface="Cambria" panose="02040503050406030204" pitchFamily="18" charset="0"/>
              </a:rPr>
              <a:t>Buffer </a:t>
            </a:r>
            <a:r>
              <a:rPr lang="en-US" altLang="en-US" sz="2400" dirty="0" smtClean="0">
                <a:latin typeface="Cambria" panose="02040503050406030204" pitchFamily="18" charset="0"/>
                <a:ea typeface="Cambria" panose="02040503050406030204" pitchFamily="18" charset="0"/>
              </a:rPr>
              <a:t>Scheme and </a:t>
            </a:r>
          </a:p>
          <a:p>
            <a:pPr marL="514350" indent="-514350" algn="just">
              <a:buFont typeface="+mj-lt"/>
              <a:buAutoNum type="arabicPeriod"/>
            </a:pPr>
            <a:r>
              <a:rPr lang="en-US" altLang="en-US" sz="2400" dirty="0" smtClean="0">
                <a:latin typeface="Cambria" panose="02040503050406030204" pitchFamily="18" charset="0"/>
                <a:ea typeface="Cambria" panose="02040503050406030204" pitchFamily="18" charset="0"/>
              </a:rPr>
              <a:t>Two </a:t>
            </a:r>
            <a:r>
              <a:rPr lang="en-US" altLang="en-US" sz="2400" dirty="0">
                <a:latin typeface="Cambria" panose="02040503050406030204" pitchFamily="18" charset="0"/>
                <a:ea typeface="Cambria" panose="02040503050406030204" pitchFamily="18" charset="0"/>
              </a:rPr>
              <a:t>Buffer Scheme. </a:t>
            </a:r>
            <a:endParaRPr lang="en-US" sz="2400" dirty="0" smtClean="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4410941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One Buffer Scheme</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29</a:t>
            </a:fld>
            <a:endParaRPr lang="en-US" altLang="en-US" dirty="0"/>
          </a:p>
        </p:txBody>
      </p:sp>
      <p:sp>
        <p:nvSpPr>
          <p:cNvPr id="6" name="Rectangle 5"/>
          <p:cNvSpPr/>
          <p:nvPr/>
        </p:nvSpPr>
        <p:spPr>
          <a:xfrm>
            <a:off x="609600" y="1598614"/>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lgn="just">
              <a:buFontTx/>
              <a:buNone/>
            </a:pPr>
            <a:r>
              <a:rPr lang="en-US" altLang="en-US" sz="2800" dirty="0">
                <a:latin typeface="Cambria" panose="02040503050406030204" pitchFamily="18" charset="0"/>
                <a:ea typeface="Cambria" panose="02040503050406030204" pitchFamily="18" charset="0"/>
              </a:rPr>
              <a:t>In this scheme, only one buffer is used to store the input string but the problem with this scheme is that if lexeme is very long then it crosses the buffer boundary, to scan rest of the lexeme the buffer has to be refilled, that makes overwriting the first of lexeme</a:t>
            </a:r>
            <a:r>
              <a:rPr lang="en-US" altLang="en-US" sz="2800" dirty="0" smtClean="0">
                <a:latin typeface="Cambria" panose="02040503050406030204" pitchFamily="18" charset="0"/>
                <a:ea typeface="Cambria" panose="02040503050406030204" pitchFamily="18" charset="0"/>
              </a:rPr>
              <a:t>.</a:t>
            </a:r>
          </a:p>
          <a:p>
            <a:pPr marL="0" indent="0" algn="just">
              <a:buFontTx/>
              <a:buNone/>
            </a:pPr>
            <a:endParaRPr lang="en-US" altLang="en-US" sz="2800" dirty="0"/>
          </a:p>
          <a:p>
            <a:pPr marL="0" indent="0" algn="just">
              <a:buFontTx/>
              <a:buNone/>
            </a:pPr>
            <a:endParaRPr lang="en-US" altLang="en-US" sz="2800"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941185"/>
            <a:ext cx="80010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9346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Two Buffer Scheme</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30</a:t>
            </a:fld>
            <a:endParaRPr lang="en-US" altLang="en-US" dirty="0"/>
          </a:p>
        </p:txBody>
      </p:sp>
      <p:sp>
        <p:nvSpPr>
          <p:cNvPr id="6" name="Rectangle 5"/>
          <p:cNvSpPr/>
          <p:nvPr/>
        </p:nvSpPr>
        <p:spPr>
          <a:xfrm>
            <a:off x="381000" y="1447225"/>
            <a:ext cx="11582400" cy="527424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lgn="just">
              <a:buFontTx/>
              <a:buNone/>
            </a:pPr>
            <a:r>
              <a:rPr lang="en-US" altLang="en-US" sz="2400" dirty="0">
                <a:latin typeface="Cambria" panose="02040503050406030204" pitchFamily="18" charset="0"/>
                <a:ea typeface="Cambria" panose="02040503050406030204" pitchFamily="18" charset="0"/>
              </a:rPr>
              <a:t>To overcome the problem of one buffer scheme, in this method two buffers are used to store the input string. the first buffer and second buffer are scanned alternately. </a:t>
            </a:r>
            <a:r>
              <a:rPr lang="en-US" altLang="en-US" sz="2400" dirty="0" smtClean="0">
                <a:latin typeface="Cambria" panose="02040503050406030204" pitchFamily="18" charset="0"/>
                <a:ea typeface="Cambria" panose="02040503050406030204" pitchFamily="18" charset="0"/>
              </a:rPr>
              <a:t>When </a:t>
            </a:r>
            <a:r>
              <a:rPr lang="en-US" altLang="en-US" sz="2400" dirty="0">
                <a:latin typeface="Cambria" panose="02040503050406030204" pitchFamily="18" charset="0"/>
                <a:ea typeface="Cambria" panose="02040503050406030204" pitchFamily="18" charset="0"/>
              </a:rPr>
              <a:t>end of current buffer is reached the other buffer is filled. </a:t>
            </a:r>
            <a:r>
              <a:rPr lang="en-US" altLang="en-US" sz="2400" dirty="0" smtClean="0">
                <a:latin typeface="Cambria" panose="02040503050406030204" pitchFamily="18" charset="0"/>
                <a:ea typeface="Cambria" panose="02040503050406030204" pitchFamily="18" charset="0"/>
              </a:rPr>
              <a:t>To identify </a:t>
            </a:r>
            <a:r>
              <a:rPr lang="en-US" altLang="en-US" sz="2400" dirty="0">
                <a:latin typeface="Cambria" panose="02040503050406030204" pitchFamily="18" charset="0"/>
                <a:ea typeface="Cambria" panose="02040503050406030204" pitchFamily="18" charset="0"/>
              </a:rPr>
              <a:t>the boundary of first </a:t>
            </a:r>
            <a:r>
              <a:rPr lang="en-US" altLang="en-US" sz="2400" dirty="0" smtClean="0">
                <a:latin typeface="Cambria" panose="02040503050406030204" pitchFamily="18" charset="0"/>
                <a:ea typeface="Cambria" panose="02040503050406030204" pitchFamily="18" charset="0"/>
              </a:rPr>
              <a:t>buffer,  </a:t>
            </a:r>
            <a:r>
              <a:rPr lang="en-US" altLang="en-US" sz="2400" dirty="0">
                <a:latin typeface="Cambria" panose="02040503050406030204" pitchFamily="18" charset="0"/>
                <a:ea typeface="Cambria" panose="02040503050406030204" pitchFamily="18" charset="0"/>
              </a:rPr>
              <a:t>end of buffer character should be placed at the end first buffer.</a:t>
            </a:r>
          </a:p>
          <a:p>
            <a:pPr marL="0" indent="0" algn="just">
              <a:buFontTx/>
              <a:buNone/>
            </a:pPr>
            <a:r>
              <a:rPr lang="en-US" altLang="en-US" sz="2400" dirty="0">
                <a:latin typeface="Cambria" panose="02040503050406030204" pitchFamily="18" charset="0"/>
                <a:ea typeface="Cambria" panose="02040503050406030204" pitchFamily="18" charset="0"/>
              </a:rPr>
              <a:t>	Similarly end of second buffer is also recognized by the end of buffer mark present at the end of second buffer. when </a:t>
            </a:r>
            <a:r>
              <a:rPr lang="en-US" altLang="en-US" sz="2400" dirty="0" err="1">
                <a:latin typeface="Cambria" panose="02040503050406030204" pitchFamily="18" charset="0"/>
                <a:ea typeface="Cambria" panose="02040503050406030204" pitchFamily="18" charset="0"/>
              </a:rPr>
              <a:t>fp</a:t>
            </a:r>
            <a:r>
              <a:rPr lang="en-US" altLang="en-US" sz="2400" dirty="0">
                <a:latin typeface="Cambria" panose="02040503050406030204" pitchFamily="18" charset="0"/>
                <a:ea typeface="Cambria" panose="02040503050406030204" pitchFamily="18" charset="0"/>
              </a:rPr>
              <a:t> encounters first </a:t>
            </a:r>
            <a:r>
              <a:rPr lang="en-US" altLang="en-US" sz="2400" b="1" dirty="0" err="1">
                <a:latin typeface="Cambria" panose="02040503050406030204" pitchFamily="18" charset="0"/>
                <a:ea typeface="Cambria" panose="02040503050406030204" pitchFamily="18" charset="0"/>
              </a:rPr>
              <a:t>eof</a:t>
            </a:r>
            <a:r>
              <a:rPr lang="en-US" altLang="en-US" sz="2400" dirty="0">
                <a:latin typeface="Cambria" panose="02040503050406030204" pitchFamily="18" charset="0"/>
                <a:ea typeface="Cambria" panose="02040503050406030204" pitchFamily="18" charset="0"/>
              </a:rPr>
              <a:t>, then one can recognize end of first buffer and hence filling up second buffer is started. in the same way when second </a:t>
            </a:r>
            <a:r>
              <a:rPr lang="en-US" altLang="en-US" sz="2400" b="1" dirty="0" err="1">
                <a:latin typeface="Cambria" panose="02040503050406030204" pitchFamily="18" charset="0"/>
                <a:ea typeface="Cambria" panose="02040503050406030204" pitchFamily="18" charset="0"/>
              </a:rPr>
              <a:t>eof</a:t>
            </a:r>
            <a:r>
              <a:rPr lang="en-US" altLang="en-US" sz="2400" dirty="0">
                <a:latin typeface="Cambria" panose="02040503050406030204" pitchFamily="18" charset="0"/>
                <a:ea typeface="Cambria" panose="02040503050406030204" pitchFamily="18" charset="0"/>
              </a:rPr>
              <a:t> is obtained then it indicates of second buffer. alternatively both the buffers can be filled up until end of the input program and stream of tokens is identified. This </a:t>
            </a:r>
            <a:r>
              <a:rPr lang="en-US" altLang="en-US" sz="2400" b="1" dirty="0" err="1">
                <a:latin typeface="Cambria" panose="02040503050406030204" pitchFamily="18" charset="0"/>
                <a:ea typeface="Cambria" panose="02040503050406030204" pitchFamily="18" charset="0"/>
              </a:rPr>
              <a:t>eof</a:t>
            </a:r>
            <a:r>
              <a:rPr lang="en-US" altLang="en-US" sz="2400" dirty="0">
                <a:latin typeface="Cambria" panose="02040503050406030204" pitchFamily="18" charset="0"/>
                <a:ea typeface="Cambria" panose="02040503050406030204" pitchFamily="18" charset="0"/>
              </a:rPr>
              <a:t> character introduced at the end is calling </a:t>
            </a:r>
            <a:r>
              <a:rPr lang="en-US" altLang="en-US" sz="2400" b="1" dirty="0">
                <a:latin typeface="Cambria" panose="02040503050406030204" pitchFamily="18" charset="0"/>
                <a:ea typeface="Cambria" panose="02040503050406030204" pitchFamily="18" charset="0"/>
              </a:rPr>
              <a:t>Sentinel</a:t>
            </a:r>
            <a:r>
              <a:rPr lang="en-US" altLang="en-US" sz="2400" dirty="0">
                <a:latin typeface="Cambria" panose="02040503050406030204" pitchFamily="18" charset="0"/>
                <a:ea typeface="Cambria" panose="02040503050406030204" pitchFamily="18" charset="0"/>
              </a:rPr>
              <a:t> which is used to identify the end of buffer.</a:t>
            </a:r>
          </a:p>
          <a:p>
            <a:pPr marL="0" indent="0" algn="just">
              <a:buFontTx/>
              <a:buNone/>
            </a:pPr>
            <a:endParaRPr lang="en-US" altLang="en-US" sz="2800" dirty="0"/>
          </a:p>
          <a:p>
            <a:pPr marL="0" indent="0" algn="just">
              <a:buFontTx/>
              <a:buNone/>
            </a:pPr>
            <a:endParaRPr lang="en-US" altLang="en-US" sz="2800" dirty="0"/>
          </a:p>
        </p:txBody>
      </p:sp>
      <p:pic>
        <p:nvPicPr>
          <p:cNvPr id="7" name="Picture 6"/>
          <p:cNvPicPr>
            <a:picLocks noChangeAspect="1"/>
          </p:cNvPicPr>
          <p:nvPr/>
        </p:nvPicPr>
        <p:blipFill>
          <a:blip r:embed="rId2"/>
          <a:stretch>
            <a:fillRect/>
          </a:stretch>
        </p:blipFill>
        <p:spPr>
          <a:xfrm>
            <a:off x="4038600" y="5206999"/>
            <a:ext cx="5772150" cy="1514475"/>
          </a:xfrm>
          <a:prstGeom prst="rect">
            <a:avLst/>
          </a:prstGeom>
        </p:spPr>
      </p:pic>
    </p:spTree>
    <p:extLst>
      <p:ext uri="{BB962C8B-B14F-4D97-AF65-F5344CB8AC3E}">
        <p14:creationId xmlns:p14="http://schemas.microsoft.com/office/powerpoint/2010/main" val="29100616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LEX</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31</a:t>
            </a:fld>
            <a:endParaRPr lang="en-US" altLang="en-US" dirty="0"/>
          </a:p>
        </p:txBody>
      </p:sp>
      <p:sp>
        <p:nvSpPr>
          <p:cNvPr id="6" name="Rectangle 5"/>
          <p:cNvSpPr/>
          <p:nvPr/>
        </p:nvSpPr>
        <p:spPr>
          <a:xfrm>
            <a:off x="381000" y="1447225"/>
            <a:ext cx="11582400" cy="527424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Lex is a program that generates lexical analyzer. It is used with YACC parser generator.</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The lexical analyzer is a program that transforms an input stream into a sequence of tokens.</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It reads the input stream and produces the source code as output through implementing the lexical analyzer in the C program.</a:t>
            </a:r>
          </a:p>
          <a:p>
            <a:pPr marL="0" indent="0" algn="just">
              <a:buFontTx/>
              <a:buNone/>
              <a:defRPr/>
            </a:pPr>
            <a:endParaRPr lang="en-US" sz="2400" dirty="0">
              <a:latin typeface="Cambria" panose="02040503050406030204" pitchFamily="18" charset="0"/>
              <a:ea typeface="Cambria" panose="02040503050406030204" pitchFamily="18" charset="0"/>
            </a:endParaRPr>
          </a:p>
          <a:p>
            <a:pPr marL="0" indent="0" algn="just">
              <a:buFontTx/>
              <a:buNone/>
              <a:defRPr/>
            </a:pPr>
            <a:r>
              <a:rPr lang="en-US" sz="2400" b="1" dirty="0" smtClean="0">
                <a:latin typeface="Cambria" panose="02040503050406030204" pitchFamily="18" charset="0"/>
                <a:ea typeface="Cambria" panose="02040503050406030204" pitchFamily="18" charset="0"/>
              </a:rPr>
              <a:t>The </a:t>
            </a:r>
            <a:r>
              <a:rPr lang="en-US" sz="2400" b="1" dirty="0">
                <a:latin typeface="Cambria" panose="02040503050406030204" pitchFamily="18" charset="0"/>
                <a:ea typeface="Cambria" panose="02040503050406030204" pitchFamily="18" charset="0"/>
              </a:rPr>
              <a:t>function of Lex is as follows:</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Firstly lexical analyzer creates a program </a:t>
            </a:r>
            <a:r>
              <a:rPr lang="en-US" sz="2400" dirty="0" smtClean="0">
                <a:latin typeface="Cambria" panose="02040503050406030204" pitchFamily="18" charset="0"/>
                <a:ea typeface="Cambria" panose="02040503050406030204" pitchFamily="18" charset="0"/>
              </a:rPr>
              <a:t>lex.1 </a:t>
            </a:r>
            <a:r>
              <a:rPr lang="en-US" sz="2400" dirty="0">
                <a:latin typeface="Cambria" panose="02040503050406030204" pitchFamily="18" charset="0"/>
                <a:ea typeface="Cambria" panose="02040503050406030204" pitchFamily="18" charset="0"/>
              </a:rPr>
              <a:t>in the Lex language. Then Lex compiler runs the lex.1 program and produces a C program </a:t>
            </a:r>
            <a:r>
              <a:rPr lang="en-US" sz="2400" dirty="0" err="1">
                <a:latin typeface="Cambria" panose="02040503050406030204" pitchFamily="18" charset="0"/>
                <a:ea typeface="Cambria" panose="02040503050406030204" pitchFamily="18" charset="0"/>
              </a:rPr>
              <a:t>lex.yy.c</a:t>
            </a:r>
            <a:r>
              <a:rPr lang="en-US" sz="2400" dirty="0">
                <a:latin typeface="Cambria" panose="02040503050406030204" pitchFamily="18" charset="0"/>
                <a:ea typeface="Cambria" panose="02040503050406030204" pitchFamily="18" charset="0"/>
              </a:rPr>
              <a:t>.</a:t>
            </a:r>
          </a:p>
          <a:p>
            <a:pPr marL="342900" indent="-342900" algn="just">
              <a:buFont typeface="Arial" panose="020B0604020202020204" pitchFamily="34" charset="0"/>
              <a:buChar char="•"/>
              <a:defRPr/>
            </a:pPr>
            <a:r>
              <a:rPr lang="en-US" sz="2400" dirty="0">
                <a:latin typeface="Cambria" panose="02040503050406030204" pitchFamily="18" charset="0"/>
                <a:ea typeface="Cambria" panose="02040503050406030204" pitchFamily="18" charset="0"/>
              </a:rPr>
              <a:t>Finally C compiler runs the </a:t>
            </a:r>
            <a:r>
              <a:rPr lang="en-US" sz="2400" dirty="0" err="1">
                <a:latin typeface="Cambria" panose="02040503050406030204" pitchFamily="18" charset="0"/>
                <a:ea typeface="Cambria" panose="02040503050406030204" pitchFamily="18" charset="0"/>
              </a:rPr>
              <a:t>lex.yy.c</a:t>
            </a:r>
            <a:r>
              <a:rPr lang="en-US" sz="2400" dirty="0">
                <a:latin typeface="Cambria" panose="02040503050406030204" pitchFamily="18" charset="0"/>
                <a:ea typeface="Cambria" panose="02040503050406030204" pitchFamily="18" charset="0"/>
              </a:rPr>
              <a:t> program and produces an object program </a:t>
            </a:r>
            <a:r>
              <a:rPr lang="en-US" sz="2400" dirty="0" err="1">
                <a:latin typeface="Cambria" panose="02040503050406030204" pitchFamily="18" charset="0"/>
                <a:ea typeface="Cambria" panose="02040503050406030204" pitchFamily="18" charset="0"/>
              </a:rPr>
              <a:t>a.out</a:t>
            </a:r>
            <a:r>
              <a:rPr lang="en-US" sz="2400" dirty="0">
                <a:latin typeface="Cambria" panose="02040503050406030204" pitchFamily="18" charset="0"/>
                <a:ea typeface="Cambria" panose="02040503050406030204" pitchFamily="18" charset="0"/>
              </a:rPr>
              <a:t>.</a:t>
            </a:r>
          </a:p>
          <a:p>
            <a:pPr marL="342900" indent="-342900" algn="just">
              <a:buFont typeface="Arial" panose="020B0604020202020204" pitchFamily="34" charset="0"/>
              <a:buChar char="•"/>
              <a:defRPr/>
            </a:pPr>
            <a:r>
              <a:rPr lang="en-US" sz="2400" dirty="0" err="1">
                <a:latin typeface="Cambria" panose="02040503050406030204" pitchFamily="18" charset="0"/>
                <a:ea typeface="Cambria" panose="02040503050406030204" pitchFamily="18" charset="0"/>
              </a:rPr>
              <a:t>a.out</a:t>
            </a:r>
            <a:r>
              <a:rPr lang="en-US" sz="2400" dirty="0">
                <a:latin typeface="Cambria" panose="02040503050406030204" pitchFamily="18" charset="0"/>
                <a:ea typeface="Cambria" panose="02040503050406030204" pitchFamily="18" charset="0"/>
              </a:rPr>
              <a:t> is lexical analyzer that transforms an input stream into a sequence of tokens.</a:t>
            </a:r>
          </a:p>
        </p:txBody>
      </p:sp>
    </p:spTree>
    <p:extLst>
      <p:ext uri="{BB962C8B-B14F-4D97-AF65-F5344CB8AC3E}">
        <p14:creationId xmlns:p14="http://schemas.microsoft.com/office/powerpoint/2010/main" val="42303766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dirty="0" smtClean="0"/>
              <a:t/>
            </a:r>
            <a:br>
              <a:rPr lang="en-IN" dirty="0" smtClean="0"/>
            </a:br>
            <a:r>
              <a:rPr lang="en-US" altLang="en-US" sz="4000" b="1" dirty="0" smtClean="0">
                <a:latin typeface="Cambria" panose="02040503050406030204" pitchFamily="18" charset="0"/>
                <a:ea typeface="Cambria" panose="02040503050406030204" pitchFamily="18" charset="0"/>
              </a:rPr>
              <a:t>LEX</a:t>
            </a: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32</a:t>
            </a:fld>
            <a:endParaRPr lang="en-US" altLang="en-US" dirty="0"/>
          </a:p>
        </p:txBody>
      </p:sp>
      <p:sp>
        <p:nvSpPr>
          <p:cNvPr id="6" name="Rectangle 5"/>
          <p:cNvSpPr/>
          <p:nvPr/>
        </p:nvSpPr>
        <p:spPr>
          <a:xfrm>
            <a:off x="381000" y="1447225"/>
            <a:ext cx="11582400" cy="527424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defRPr/>
            </a:pPr>
            <a:endParaRPr lang="en-US" sz="2400" dirty="0">
              <a:latin typeface="Cambria" panose="02040503050406030204" pitchFamily="18" charset="0"/>
              <a:ea typeface="Cambria" panose="02040503050406030204"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675" y="1905000"/>
            <a:ext cx="840105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269769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65126"/>
            <a:ext cx="110490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Bootstrapping</a:t>
            </a:r>
            <a:endParaRPr lang="en-IN" sz="4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33</a:t>
            </a:fld>
            <a:endParaRPr lang="en-US" altLang="en-US" dirty="0"/>
          </a:p>
        </p:txBody>
      </p:sp>
      <p:sp>
        <p:nvSpPr>
          <p:cNvPr id="6" name="Rectangle 5"/>
          <p:cNvSpPr/>
          <p:nvPr/>
        </p:nvSpPr>
        <p:spPr>
          <a:xfrm>
            <a:off x="381000" y="1447225"/>
            <a:ext cx="11582400" cy="527424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algn="just">
              <a:defRPr/>
            </a:pPr>
            <a:r>
              <a:rPr lang="en-US" sz="2400" dirty="0" smtClean="0">
                <a:latin typeface="Cambria" panose="02040503050406030204" pitchFamily="18" charset="0"/>
                <a:ea typeface="Cambria" panose="02040503050406030204" pitchFamily="18" charset="0"/>
              </a:rPr>
              <a:t>Bootstrapping </a:t>
            </a:r>
            <a:r>
              <a:rPr lang="en-US" sz="2400" dirty="0">
                <a:latin typeface="Cambria" panose="02040503050406030204" pitchFamily="18" charset="0"/>
                <a:ea typeface="Cambria" panose="02040503050406030204" pitchFamily="18" charset="0"/>
              </a:rPr>
              <a:t>is widely used in the compilation development.</a:t>
            </a:r>
          </a:p>
          <a:p>
            <a:pPr algn="just">
              <a:defRPr/>
            </a:pPr>
            <a:r>
              <a:rPr lang="en-US" sz="2400" dirty="0">
                <a:latin typeface="Cambria" panose="02040503050406030204" pitchFamily="18" charset="0"/>
                <a:ea typeface="Cambria" panose="02040503050406030204" pitchFamily="18" charset="0"/>
              </a:rPr>
              <a:t>Bootstrapping is used to produce a self-hosting compiler. Self-hosting compiler is a type of compiler that can compile its own source code.</a:t>
            </a:r>
          </a:p>
          <a:p>
            <a:pPr algn="just">
              <a:defRPr/>
            </a:pPr>
            <a:r>
              <a:rPr lang="en-US" sz="2400" dirty="0">
                <a:latin typeface="Cambria" panose="02040503050406030204" pitchFamily="18" charset="0"/>
                <a:ea typeface="Cambria" panose="02040503050406030204" pitchFamily="18" charset="0"/>
              </a:rPr>
              <a:t>Bootstrap compiler is used to compile the compiler and then you can use this compiled compiler to compile everything else as well as future versions of itself.</a:t>
            </a:r>
          </a:p>
          <a:p>
            <a:pPr marL="0" indent="0" algn="just">
              <a:buFontTx/>
              <a:buNone/>
              <a:defRPr/>
            </a:pPr>
            <a:endParaRPr lang="en-US" sz="2400" dirty="0">
              <a:latin typeface="Cambria" panose="02040503050406030204" pitchFamily="18" charset="0"/>
              <a:ea typeface="Cambria" panose="02040503050406030204" pitchFamily="18" charset="0"/>
            </a:endParaRPr>
          </a:p>
          <a:p>
            <a:pPr marL="0" indent="0" algn="just">
              <a:buFontTx/>
              <a:buNone/>
              <a:defRPr/>
            </a:pPr>
            <a:r>
              <a:rPr lang="en-US" sz="2400" dirty="0">
                <a:latin typeface="Cambria" panose="02040503050406030204" pitchFamily="18" charset="0"/>
                <a:ea typeface="Cambria" panose="02040503050406030204" pitchFamily="18" charset="0"/>
              </a:rPr>
              <a:t>A compiler can be characterized by three languages:</a:t>
            </a:r>
          </a:p>
          <a:p>
            <a:pPr algn="just">
              <a:defRPr/>
            </a:pPr>
            <a:r>
              <a:rPr lang="en-US" sz="2400" dirty="0">
                <a:latin typeface="Cambria" panose="02040503050406030204" pitchFamily="18" charset="0"/>
                <a:ea typeface="Cambria" panose="02040503050406030204" pitchFamily="18" charset="0"/>
              </a:rPr>
              <a:t>Source Language</a:t>
            </a:r>
          </a:p>
          <a:p>
            <a:pPr algn="just">
              <a:defRPr/>
            </a:pPr>
            <a:r>
              <a:rPr lang="en-US" sz="2400" dirty="0">
                <a:latin typeface="Cambria" panose="02040503050406030204" pitchFamily="18" charset="0"/>
                <a:ea typeface="Cambria" panose="02040503050406030204" pitchFamily="18" charset="0"/>
              </a:rPr>
              <a:t>Target Language</a:t>
            </a:r>
          </a:p>
          <a:p>
            <a:pPr algn="just">
              <a:defRPr/>
            </a:pPr>
            <a:r>
              <a:rPr lang="en-US" sz="2400" dirty="0">
                <a:latin typeface="Cambria" panose="02040503050406030204" pitchFamily="18" charset="0"/>
                <a:ea typeface="Cambria" panose="02040503050406030204" pitchFamily="18" charset="0"/>
              </a:rPr>
              <a:t>Implementation Language</a:t>
            </a:r>
          </a:p>
          <a:p>
            <a:pPr algn="just">
              <a:defRPr/>
            </a:pP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994463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65126"/>
            <a:ext cx="110490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Bootstrapping</a:t>
            </a:r>
            <a:endParaRPr lang="en-IN" sz="4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34</a:t>
            </a:fld>
            <a:endParaRPr lang="en-US" altLang="en-US" dirty="0"/>
          </a:p>
        </p:txBody>
      </p:sp>
      <p:sp>
        <p:nvSpPr>
          <p:cNvPr id="6" name="Rectangle 5"/>
          <p:cNvSpPr/>
          <p:nvPr/>
        </p:nvSpPr>
        <p:spPr>
          <a:xfrm>
            <a:off x="381000" y="1447225"/>
            <a:ext cx="11582400" cy="527424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buNone/>
              <a:defRPr/>
            </a:pPr>
            <a:r>
              <a:rPr lang="en-US" sz="2400" dirty="0">
                <a:latin typeface="Cambria" panose="02040503050406030204" pitchFamily="18" charset="0"/>
                <a:ea typeface="Cambria" panose="02040503050406030204" pitchFamily="18" charset="0"/>
              </a:rPr>
              <a:t>The T- diagram shows a compiler </a:t>
            </a:r>
            <a:r>
              <a:rPr lang="en-US" sz="2400" baseline="30000" dirty="0">
                <a:latin typeface="Cambria" panose="02040503050406030204" pitchFamily="18" charset="0"/>
                <a:ea typeface="Cambria" panose="02040503050406030204" pitchFamily="18" charset="0"/>
              </a:rPr>
              <a:t>S</a:t>
            </a:r>
            <a:r>
              <a:rPr lang="en-US" sz="2400" dirty="0">
                <a:latin typeface="Cambria" panose="02040503050406030204" pitchFamily="18" charset="0"/>
                <a:ea typeface="Cambria" panose="02040503050406030204" pitchFamily="18" charset="0"/>
              </a:rPr>
              <a:t>C</a:t>
            </a:r>
            <a:r>
              <a:rPr lang="en-US" sz="2400" baseline="-25000" dirty="0">
                <a:latin typeface="Cambria" panose="02040503050406030204" pitchFamily="18" charset="0"/>
                <a:ea typeface="Cambria" panose="02040503050406030204" pitchFamily="18" charset="0"/>
              </a:rPr>
              <a:t>I</a:t>
            </a:r>
            <a:r>
              <a:rPr lang="en-US" sz="2400" baseline="30000" dirty="0">
                <a:latin typeface="Cambria" panose="02040503050406030204" pitchFamily="18" charset="0"/>
                <a:ea typeface="Cambria" panose="02040503050406030204" pitchFamily="18" charset="0"/>
              </a:rPr>
              <a:t>T</a:t>
            </a:r>
            <a:r>
              <a:rPr lang="en-US" sz="2400" dirty="0">
                <a:latin typeface="Cambria" panose="02040503050406030204" pitchFamily="18" charset="0"/>
                <a:ea typeface="Cambria" panose="02040503050406030204" pitchFamily="18" charset="0"/>
              </a:rPr>
              <a:t> for Source S, Target T, implemented in I.</a:t>
            </a:r>
          </a:p>
          <a:p>
            <a:pPr>
              <a:defRPr/>
            </a:pPr>
            <a:endParaRPr lang="en-US" sz="2400" dirty="0">
              <a:latin typeface="Cambria" panose="02040503050406030204" pitchFamily="18" charset="0"/>
              <a:ea typeface="Cambria" panose="02040503050406030204" pitchFamily="18" charset="0"/>
            </a:endParaRPr>
          </a:p>
          <a:p>
            <a:pPr>
              <a:defRPr/>
            </a:pPr>
            <a:endParaRPr lang="en-US" sz="2400" dirty="0">
              <a:latin typeface="Cambria" panose="02040503050406030204" pitchFamily="18" charset="0"/>
              <a:ea typeface="Cambria" panose="02040503050406030204" pitchFamily="18" charset="0"/>
            </a:endParaRPr>
          </a:p>
          <a:p>
            <a:pPr marL="0" indent="0">
              <a:buNone/>
              <a:defRPr/>
            </a:pPr>
            <a:endParaRPr lang="en-US" sz="2400" dirty="0">
              <a:latin typeface="Cambria" panose="02040503050406030204" pitchFamily="18" charset="0"/>
              <a:ea typeface="Cambria" panose="02040503050406030204" pitchFamily="18" charset="0"/>
            </a:endParaRPr>
          </a:p>
          <a:p>
            <a:pPr marL="0" indent="0">
              <a:buNone/>
              <a:defRPr/>
            </a:pPr>
            <a:r>
              <a:rPr lang="en-US" sz="2400" dirty="0">
                <a:latin typeface="Cambria" panose="02040503050406030204" pitchFamily="18" charset="0"/>
                <a:ea typeface="Cambria" panose="02040503050406030204" pitchFamily="18" charset="0"/>
              </a:rPr>
              <a:t>Follow some steps to produce a new language </a:t>
            </a:r>
            <a:r>
              <a:rPr lang="en-US" sz="2400" b="1" dirty="0">
                <a:latin typeface="Cambria" panose="02040503050406030204" pitchFamily="18" charset="0"/>
                <a:ea typeface="Cambria" panose="02040503050406030204" pitchFamily="18" charset="0"/>
              </a:rPr>
              <a:t>L</a:t>
            </a:r>
            <a:r>
              <a:rPr lang="en-US" sz="2400" dirty="0">
                <a:latin typeface="Cambria" panose="02040503050406030204" pitchFamily="18" charset="0"/>
                <a:ea typeface="Cambria" panose="02040503050406030204" pitchFamily="18" charset="0"/>
              </a:rPr>
              <a:t> for machine </a:t>
            </a:r>
            <a:r>
              <a:rPr lang="en-US" sz="2400" b="1" dirty="0">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a:t>
            </a:r>
          </a:p>
          <a:p>
            <a:pPr marL="457200" indent="-457200">
              <a:buFontTx/>
              <a:buAutoNum type="arabicPeriod"/>
              <a:defRPr/>
            </a:pPr>
            <a:r>
              <a:rPr lang="en-US" sz="2400" dirty="0">
                <a:latin typeface="Cambria" panose="02040503050406030204" pitchFamily="18" charset="0"/>
                <a:ea typeface="Cambria" panose="02040503050406030204" pitchFamily="18" charset="0"/>
              </a:rPr>
              <a:t>Create a compiler </a:t>
            </a:r>
            <a:r>
              <a:rPr lang="en-US" sz="2400" baseline="30000" dirty="0">
                <a:latin typeface="Cambria" panose="02040503050406030204" pitchFamily="18" charset="0"/>
                <a:ea typeface="Cambria" panose="02040503050406030204" pitchFamily="18" charset="0"/>
              </a:rPr>
              <a:t>S</a:t>
            </a:r>
            <a:r>
              <a:rPr lang="en-US" sz="2400" dirty="0">
                <a:latin typeface="Cambria" panose="02040503050406030204" pitchFamily="18" charset="0"/>
                <a:ea typeface="Cambria" panose="02040503050406030204" pitchFamily="18" charset="0"/>
              </a:rPr>
              <a:t>C</a:t>
            </a:r>
            <a:r>
              <a:rPr lang="en-US" sz="2400" baseline="-25000" dirty="0">
                <a:latin typeface="Cambria" panose="02040503050406030204" pitchFamily="18" charset="0"/>
                <a:ea typeface="Cambria" panose="02040503050406030204" pitchFamily="18" charset="0"/>
              </a:rPr>
              <a:t>A</a:t>
            </a:r>
            <a:r>
              <a:rPr lang="en-US" sz="2400" baseline="30000" dirty="0">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 for subset, S of the desired language, L using language "A" and that compiler runs on machine A.</a:t>
            </a:r>
          </a:p>
          <a:p>
            <a:pPr marL="457200" indent="-457200">
              <a:buFontTx/>
              <a:buAutoNum type="arabicPeriod"/>
              <a:defRPr/>
            </a:pPr>
            <a:endParaRPr lang="en-US" sz="2400" dirty="0">
              <a:latin typeface="Cambria" panose="02040503050406030204" pitchFamily="18" charset="0"/>
              <a:ea typeface="Cambria" panose="02040503050406030204" pitchFamily="18" charset="0"/>
            </a:endParaRPr>
          </a:p>
          <a:p>
            <a:pPr marL="457200" indent="-457200">
              <a:buFontTx/>
              <a:buAutoNum type="arabicPeriod"/>
              <a:defRPr/>
            </a:pPr>
            <a:endParaRPr lang="en-US" sz="2400" dirty="0">
              <a:latin typeface="Cambria" panose="02040503050406030204" pitchFamily="18" charset="0"/>
              <a:ea typeface="Cambria" panose="02040503050406030204" pitchFamily="18" charset="0"/>
            </a:endParaRPr>
          </a:p>
          <a:p>
            <a:pPr marL="457200" indent="-457200">
              <a:buFontTx/>
              <a:buAutoNum type="arabicPeriod"/>
              <a:defRPr/>
            </a:pPr>
            <a:r>
              <a:rPr lang="en-US" sz="2400" dirty="0">
                <a:latin typeface="Cambria" panose="02040503050406030204" pitchFamily="18" charset="0"/>
                <a:ea typeface="Cambria" panose="02040503050406030204" pitchFamily="18" charset="0"/>
              </a:rPr>
              <a:t>Create a compiler </a:t>
            </a:r>
            <a:r>
              <a:rPr lang="en-US" sz="2400" baseline="30000" dirty="0">
                <a:latin typeface="Cambria" panose="02040503050406030204" pitchFamily="18" charset="0"/>
                <a:ea typeface="Cambria" panose="02040503050406030204" pitchFamily="18" charset="0"/>
              </a:rPr>
              <a:t>L</a:t>
            </a:r>
            <a:r>
              <a:rPr lang="en-US" sz="2400" dirty="0">
                <a:latin typeface="Cambria" panose="02040503050406030204" pitchFamily="18" charset="0"/>
                <a:ea typeface="Cambria" panose="02040503050406030204" pitchFamily="18" charset="0"/>
              </a:rPr>
              <a:t>C</a:t>
            </a:r>
            <a:r>
              <a:rPr lang="en-US" sz="2400" baseline="-25000" dirty="0">
                <a:latin typeface="Cambria" panose="02040503050406030204" pitchFamily="18" charset="0"/>
                <a:ea typeface="Cambria" panose="02040503050406030204" pitchFamily="18" charset="0"/>
              </a:rPr>
              <a:t>S</a:t>
            </a:r>
            <a:r>
              <a:rPr lang="en-US" sz="2400" baseline="30000" dirty="0">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 for language L written in a subset of L.</a:t>
            </a:r>
          </a:p>
          <a:p>
            <a:pPr marL="0" indent="0">
              <a:buNone/>
              <a:defRPr/>
            </a:pPr>
            <a:endParaRPr lang="en-US" sz="2400" dirty="0">
              <a:latin typeface="Cambria" panose="02040503050406030204" pitchFamily="18" charset="0"/>
              <a:ea typeface="Cambria" panose="02040503050406030204" pitchFamily="18" charset="0"/>
            </a:endParaRPr>
          </a:p>
          <a:p>
            <a:pPr algn="just">
              <a:defRPr/>
            </a:pPr>
            <a:endParaRPr lang="en-US" sz="2400" dirty="0">
              <a:latin typeface="Cambria" panose="02040503050406030204" pitchFamily="18" charset="0"/>
              <a:ea typeface="Cambria" panose="02040503050406030204" pitchFamily="18" charset="0"/>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828800"/>
            <a:ext cx="152717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3859211"/>
            <a:ext cx="1527175" cy="98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4993" y="5532005"/>
            <a:ext cx="1143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60764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65126"/>
            <a:ext cx="11049000" cy="1233488"/>
          </a:xfrm>
        </p:spPr>
        <p:txBody>
          <a:bodyPr>
            <a:normAutofit fontScale="90000"/>
          </a:bodyPr>
          <a:lstStyle/>
          <a:p>
            <a:r>
              <a:rPr lang="en-IN" dirty="0" smtClean="0"/>
              <a:t/>
            </a:r>
            <a:br>
              <a:rPr lang="en-IN" dirty="0" smtClean="0"/>
            </a:br>
            <a:r>
              <a:rPr lang="en-US" altLang="en-US" sz="4000" b="1" dirty="0">
                <a:latin typeface="Cambria" panose="02040503050406030204" pitchFamily="18" charset="0"/>
                <a:ea typeface="Cambria" panose="02040503050406030204" pitchFamily="18" charset="0"/>
              </a:rPr>
              <a:t>Bootstrapping</a:t>
            </a:r>
            <a:endParaRPr lang="en-IN" sz="4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35</a:t>
            </a:fld>
            <a:endParaRPr lang="en-US" altLang="en-US" dirty="0"/>
          </a:p>
        </p:txBody>
      </p:sp>
      <p:sp>
        <p:nvSpPr>
          <p:cNvPr id="6" name="Rectangle 5"/>
          <p:cNvSpPr/>
          <p:nvPr/>
        </p:nvSpPr>
        <p:spPr>
          <a:xfrm>
            <a:off x="381000" y="1447225"/>
            <a:ext cx="11582400" cy="5274249"/>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buNone/>
            </a:pPr>
            <a:r>
              <a:rPr lang="en-US" altLang="en-US" sz="2400" dirty="0"/>
              <a:t>3. </a:t>
            </a:r>
            <a:r>
              <a:rPr lang="en-US" altLang="en-US" sz="2400" dirty="0">
                <a:latin typeface="Cambria" panose="02040503050406030204" pitchFamily="18" charset="0"/>
                <a:ea typeface="Cambria" panose="02040503050406030204" pitchFamily="18" charset="0"/>
              </a:rPr>
              <a:t>Compile </a:t>
            </a:r>
            <a:r>
              <a:rPr lang="en-US" altLang="en-US" sz="2400" baseline="30000" dirty="0">
                <a:latin typeface="Cambria" panose="02040503050406030204" pitchFamily="18" charset="0"/>
                <a:ea typeface="Cambria" panose="02040503050406030204" pitchFamily="18" charset="0"/>
              </a:rPr>
              <a:t>L</a:t>
            </a:r>
            <a:r>
              <a:rPr lang="en-US" altLang="en-US" sz="2400" dirty="0">
                <a:latin typeface="Cambria" panose="02040503050406030204" pitchFamily="18" charset="0"/>
                <a:ea typeface="Cambria" panose="02040503050406030204" pitchFamily="18" charset="0"/>
              </a:rPr>
              <a:t>C</a:t>
            </a:r>
            <a:r>
              <a:rPr lang="en-US" altLang="en-US" sz="2400" baseline="-25000" dirty="0">
                <a:latin typeface="Cambria" panose="02040503050406030204" pitchFamily="18" charset="0"/>
                <a:ea typeface="Cambria" panose="02040503050406030204" pitchFamily="18" charset="0"/>
              </a:rPr>
              <a:t>S</a:t>
            </a:r>
            <a:r>
              <a:rPr lang="en-US" altLang="en-US" sz="2400" baseline="30000" dirty="0">
                <a:latin typeface="Cambria" panose="02040503050406030204" pitchFamily="18" charset="0"/>
                <a:ea typeface="Cambria" panose="02040503050406030204" pitchFamily="18" charset="0"/>
              </a:rPr>
              <a:t>A</a:t>
            </a:r>
            <a:r>
              <a:rPr lang="en-US" altLang="en-US" sz="2400" dirty="0">
                <a:latin typeface="Cambria" panose="02040503050406030204" pitchFamily="18" charset="0"/>
                <a:ea typeface="Cambria" panose="02040503050406030204" pitchFamily="18" charset="0"/>
              </a:rPr>
              <a:t> using the compiler </a:t>
            </a:r>
            <a:r>
              <a:rPr lang="en-US" altLang="en-US" sz="2400" baseline="30000" dirty="0">
                <a:latin typeface="Cambria" panose="02040503050406030204" pitchFamily="18" charset="0"/>
                <a:ea typeface="Cambria" panose="02040503050406030204" pitchFamily="18" charset="0"/>
              </a:rPr>
              <a:t>S</a:t>
            </a:r>
            <a:r>
              <a:rPr lang="en-US" altLang="en-US" sz="2400" dirty="0">
                <a:latin typeface="Cambria" panose="02040503050406030204" pitchFamily="18" charset="0"/>
                <a:ea typeface="Cambria" panose="02040503050406030204" pitchFamily="18" charset="0"/>
              </a:rPr>
              <a:t>C</a:t>
            </a:r>
            <a:r>
              <a:rPr lang="en-US" altLang="en-US" sz="2400" baseline="-25000" dirty="0">
                <a:latin typeface="Cambria" panose="02040503050406030204" pitchFamily="18" charset="0"/>
                <a:ea typeface="Cambria" panose="02040503050406030204" pitchFamily="18" charset="0"/>
              </a:rPr>
              <a:t>A</a:t>
            </a:r>
            <a:r>
              <a:rPr lang="en-US" altLang="en-US" sz="2400" baseline="30000" dirty="0">
                <a:latin typeface="Cambria" panose="02040503050406030204" pitchFamily="18" charset="0"/>
                <a:ea typeface="Cambria" panose="02040503050406030204" pitchFamily="18" charset="0"/>
              </a:rPr>
              <a:t>A</a:t>
            </a:r>
            <a:r>
              <a:rPr lang="en-US" altLang="en-US" sz="2400" dirty="0">
                <a:latin typeface="Cambria" panose="02040503050406030204" pitchFamily="18" charset="0"/>
                <a:ea typeface="Cambria" panose="02040503050406030204" pitchFamily="18" charset="0"/>
              </a:rPr>
              <a:t> to obtain </a:t>
            </a:r>
            <a:r>
              <a:rPr lang="en-US" altLang="en-US" sz="2400" baseline="30000" dirty="0">
                <a:latin typeface="Cambria" panose="02040503050406030204" pitchFamily="18" charset="0"/>
                <a:ea typeface="Cambria" panose="02040503050406030204" pitchFamily="18" charset="0"/>
              </a:rPr>
              <a:t>L</a:t>
            </a:r>
            <a:r>
              <a:rPr lang="en-US" altLang="en-US" sz="2400" dirty="0">
                <a:latin typeface="Cambria" panose="02040503050406030204" pitchFamily="18" charset="0"/>
                <a:ea typeface="Cambria" panose="02040503050406030204" pitchFamily="18" charset="0"/>
              </a:rPr>
              <a:t>C</a:t>
            </a:r>
            <a:r>
              <a:rPr lang="en-US" altLang="en-US" sz="2400" baseline="-25000" dirty="0">
                <a:latin typeface="Cambria" panose="02040503050406030204" pitchFamily="18" charset="0"/>
                <a:ea typeface="Cambria" panose="02040503050406030204" pitchFamily="18" charset="0"/>
              </a:rPr>
              <a:t>A</a:t>
            </a:r>
            <a:r>
              <a:rPr lang="en-US" altLang="en-US" sz="2400" baseline="30000" dirty="0">
                <a:latin typeface="Cambria" panose="02040503050406030204" pitchFamily="18" charset="0"/>
                <a:ea typeface="Cambria" panose="02040503050406030204" pitchFamily="18" charset="0"/>
              </a:rPr>
              <a:t>A</a:t>
            </a:r>
            <a:r>
              <a:rPr lang="en-US" altLang="en-US" sz="2400" dirty="0">
                <a:latin typeface="Cambria" panose="02040503050406030204" pitchFamily="18" charset="0"/>
                <a:ea typeface="Cambria" panose="02040503050406030204" pitchFamily="18" charset="0"/>
              </a:rPr>
              <a:t>. </a:t>
            </a:r>
            <a:r>
              <a:rPr lang="en-US" altLang="en-US" sz="2400" baseline="30000" dirty="0">
                <a:latin typeface="Cambria" panose="02040503050406030204" pitchFamily="18" charset="0"/>
                <a:ea typeface="Cambria" panose="02040503050406030204" pitchFamily="18" charset="0"/>
              </a:rPr>
              <a:t>L</a:t>
            </a:r>
            <a:r>
              <a:rPr lang="en-US" altLang="en-US" sz="2400" dirty="0">
                <a:latin typeface="Cambria" panose="02040503050406030204" pitchFamily="18" charset="0"/>
                <a:ea typeface="Cambria" panose="02040503050406030204" pitchFamily="18" charset="0"/>
              </a:rPr>
              <a:t>C</a:t>
            </a:r>
            <a:r>
              <a:rPr lang="en-US" altLang="en-US" sz="2400" baseline="-25000" dirty="0">
                <a:latin typeface="Cambria" panose="02040503050406030204" pitchFamily="18" charset="0"/>
                <a:ea typeface="Cambria" panose="02040503050406030204" pitchFamily="18" charset="0"/>
              </a:rPr>
              <a:t>A</a:t>
            </a:r>
            <a:r>
              <a:rPr lang="en-US" altLang="en-US" sz="2400" baseline="30000" dirty="0">
                <a:latin typeface="Cambria" panose="02040503050406030204" pitchFamily="18" charset="0"/>
                <a:ea typeface="Cambria" panose="02040503050406030204" pitchFamily="18" charset="0"/>
              </a:rPr>
              <a:t>A</a:t>
            </a:r>
            <a:r>
              <a:rPr lang="en-US" altLang="en-US" sz="2400" dirty="0">
                <a:latin typeface="Cambria" panose="02040503050406030204" pitchFamily="18" charset="0"/>
                <a:ea typeface="Cambria" panose="02040503050406030204" pitchFamily="18" charset="0"/>
              </a:rPr>
              <a:t> is a compiler for language L, which runs on machine A and produces code for machine A.</a:t>
            </a:r>
          </a:p>
          <a:p>
            <a:pPr>
              <a:defRPr/>
            </a:pPr>
            <a:endParaRPr lang="en-US" sz="2400" dirty="0">
              <a:latin typeface="Cambria" panose="02040503050406030204" pitchFamily="18" charset="0"/>
              <a:ea typeface="Cambria" panose="02040503050406030204" pitchFamily="18" charset="0"/>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709" y="2590800"/>
            <a:ext cx="68580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3429000"/>
            <a:ext cx="3876675"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0114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126"/>
            <a:ext cx="11125200" cy="1233488"/>
          </a:xfrm>
        </p:spPr>
        <p:txBody>
          <a:bodyPr>
            <a:normAutofit fontScale="90000"/>
          </a:bodyPr>
          <a:lstStyle/>
          <a:p>
            <a:r>
              <a:rPr lang="en-IN" smtClean="0"/>
              <a:t/>
            </a:r>
            <a:br>
              <a:rPr lang="en-IN" smtClean="0"/>
            </a:br>
            <a:endParaRPr lang="en-IN"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0314B9FC-F7FA-4A5F-A68B-9084E75933A3}" type="slidenum">
              <a:rPr lang="en-US" altLang="en-US" smtClean="0"/>
              <a:pPr>
                <a:defRPr/>
              </a:pPr>
              <a:t>36</a:t>
            </a:fld>
            <a:endParaRPr lang="en-US" altLang="en-US" dirty="0"/>
          </a:p>
        </p:txBody>
      </p:sp>
      <p:sp>
        <p:nvSpPr>
          <p:cNvPr id="6" name="Rectangle 5"/>
          <p:cNvSpPr/>
          <p:nvPr/>
        </p:nvSpPr>
        <p:spPr>
          <a:xfrm>
            <a:off x="381000" y="1619396"/>
            <a:ext cx="11582400" cy="4954586"/>
          </a:xfrm>
          <a:prstGeom prst="rect">
            <a:avLst/>
          </a:prstGeom>
        </p:spPr>
        <p:style>
          <a:lnRef idx="2">
            <a:schemeClr val="dk1"/>
          </a:lnRef>
          <a:fillRef idx="1">
            <a:schemeClr val="lt1"/>
          </a:fillRef>
          <a:effectRef idx="0">
            <a:schemeClr val="dk1"/>
          </a:effectRef>
          <a:fontRef idx="minor">
            <a:schemeClr val="dk1"/>
          </a:fontRef>
        </p:style>
        <p:txBody>
          <a:bodyPr rtlCol="0" anchor="t" anchorCtr="0"/>
          <a:lstStyle/>
          <a:p>
            <a:pPr marL="0" indent="0" algn="just">
              <a:buFontTx/>
              <a:buNone/>
            </a:pPr>
            <a:endParaRPr lang="en-US" altLang="en-US" sz="2800" dirty="0"/>
          </a:p>
        </p:txBody>
      </p:sp>
    </p:spTree>
    <p:extLst>
      <p:ext uri="{BB962C8B-B14F-4D97-AF65-F5344CB8AC3E}">
        <p14:creationId xmlns:p14="http://schemas.microsoft.com/office/powerpoint/2010/main" val="1380616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 xmlns:a1611="http://schemas.microsoft.com/office/drawing/2016/11/main" r:id="rId3"/>
              </a:ext>
            </a:extLst>
          </a:blip>
          <a:srcRect/>
          <a:stretch>
            <a:fillRect t="-1000" b="-1000"/>
          </a:stretch>
        </a:blip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5E766A-5517-4C2E-A781-55A4731FB4E4}"/>
              </a:ext>
            </a:extLst>
          </p:cNvPr>
          <p:cNvSpPr>
            <a:spLocks noGrp="1"/>
          </p:cNvSpPr>
          <p:nvPr>
            <p:ph type="sldNum" sz="quarter" idx="12"/>
          </p:nvPr>
        </p:nvSpPr>
        <p:spPr/>
        <p:txBody>
          <a:bodyPr/>
          <a:lstStyle/>
          <a:p>
            <a:pPr>
              <a:defRPr/>
            </a:pPr>
            <a:fld id="{6F37B527-40FE-43B6-AD95-333021185313}" type="slidenum">
              <a:rPr lang="en-US" altLang="en-US" smtClean="0"/>
              <a:pPr>
                <a:defRPr/>
              </a:pPr>
              <a:t>37</a:t>
            </a:fld>
            <a:endParaRPr lang="en-US" altLang="en-US"/>
          </a:p>
        </p:txBody>
      </p:sp>
    </p:spTree>
    <p:extLst>
      <p:ext uri="{BB962C8B-B14F-4D97-AF65-F5344CB8AC3E}">
        <p14:creationId xmlns:p14="http://schemas.microsoft.com/office/powerpoint/2010/main" val="27810902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6|6"/>
</p:tagLst>
</file>

<file path=ppt/tags/tag2.xml><?xml version="1.0" encoding="utf-8"?>
<p:tagLst xmlns:a="http://schemas.openxmlformats.org/drawingml/2006/main" xmlns:r="http://schemas.openxmlformats.org/officeDocument/2006/relationships" xmlns:p="http://schemas.openxmlformats.org/presentationml/2006/main">
  <p:tag name="TIMING" val="|1.3"/>
</p:tagLst>
</file>

<file path=ppt/tags/tag3.xml><?xml version="1.0" encoding="utf-8"?>
<p:tagLst xmlns:a="http://schemas.openxmlformats.org/drawingml/2006/main" xmlns:r="http://schemas.openxmlformats.org/officeDocument/2006/relationships" xmlns:p="http://schemas.openxmlformats.org/presentationml/2006/main">
  <p:tag name="TIMING" val="|2.4|1.5"/>
</p:tagLst>
</file>

<file path=ppt/theme/theme1.xml><?xml version="1.0" encoding="utf-8"?>
<a:theme xmlns:a="http://schemas.openxmlformats.org/drawingml/2006/main" name="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23404</TotalTime>
  <Words>1393</Words>
  <Application>Microsoft Office PowerPoint</Application>
  <PresentationFormat>Widescreen</PresentationFormat>
  <Paragraphs>309</Paragraphs>
  <Slides>37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Algerian</vt:lpstr>
      <vt:lpstr>Arial</vt:lpstr>
      <vt:lpstr>Arial Black</vt:lpstr>
      <vt:lpstr>Baskerville Old Face</vt:lpstr>
      <vt:lpstr>Calibri</vt:lpstr>
      <vt:lpstr>Calibri Light</vt:lpstr>
      <vt:lpstr>Cambria</vt:lpstr>
      <vt:lpstr>Symbol</vt:lpstr>
      <vt:lpstr>Times New Roman</vt:lpstr>
      <vt:lpstr>Wingdings</vt:lpstr>
      <vt:lpstr>Default Design</vt:lpstr>
      <vt:lpstr>PowerPoint Presentation</vt:lpstr>
      <vt:lpstr>  </vt:lpstr>
      <vt:lpstr> Recommended Reading​</vt:lpstr>
      <vt:lpstr> OBJECTIVES</vt:lpstr>
      <vt:lpstr> Module Assessment​</vt:lpstr>
      <vt:lpstr> Translator</vt:lpstr>
      <vt:lpstr> Compiler</vt:lpstr>
      <vt:lpstr> Language processing systems (using Compiler)</vt:lpstr>
      <vt:lpstr> Cousins of Compiler(other translators)</vt:lpstr>
      <vt:lpstr> Cousins of Compiler(other translators)</vt:lpstr>
      <vt:lpstr> Structure of a Compiler</vt:lpstr>
      <vt:lpstr> Structure of a Compiler</vt:lpstr>
      <vt:lpstr> Analysis-Synthesis model of Compiler</vt:lpstr>
      <vt:lpstr> Grouping of Phases</vt:lpstr>
      <vt:lpstr> Example</vt:lpstr>
      <vt:lpstr> Introduction of Lexical Analysis</vt:lpstr>
      <vt:lpstr>  Some Important terms: </vt:lpstr>
      <vt:lpstr> Introduction of Lexical Analysis</vt:lpstr>
      <vt:lpstr> Symbol Table in Compiler</vt:lpstr>
      <vt:lpstr> Symbol Table in Compiler</vt:lpstr>
      <vt:lpstr> Specification of Tokens(Pattern)</vt:lpstr>
      <vt:lpstr> Regular Expression</vt:lpstr>
      <vt:lpstr> Example of Minimization of DFA</vt:lpstr>
      <vt:lpstr> Transition diagram for Different types of Tokens</vt:lpstr>
      <vt:lpstr> Transition diagram for Different types of Tokens</vt:lpstr>
      <vt:lpstr> Introduction of Lexical Analysis</vt:lpstr>
      <vt:lpstr> Introduction of Lexical Analysis</vt:lpstr>
      <vt:lpstr> Scanning the Input</vt:lpstr>
      <vt:lpstr> One Buffer Scheme</vt:lpstr>
      <vt:lpstr> Two Buffer Scheme</vt:lpstr>
      <vt:lpstr> LEX</vt:lpstr>
      <vt:lpstr> LEX</vt:lpstr>
      <vt:lpstr> Bootstrapping</vt:lpstr>
      <vt:lpstr> Bootstrapping</vt:lpstr>
      <vt:lpstr> Bootstrapping</vt:lpstr>
      <vt:lpst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AAYUSH JAISWAL</dc:creator>
  <cp:lastModifiedBy>Neetu Narayan</cp:lastModifiedBy>
  <cp:revision>282</cp:revision>
  <dcterms:created xsi:type="dcterms:W3CDTF">2020-07-01T12:52:09Z</dcterms:created>
  <dcterms:modified xsi:type="dcterms:W3CDTF">2021-01-13T08:14:12Z</dcterms:modified>
</cp:coreProperties>
</file>